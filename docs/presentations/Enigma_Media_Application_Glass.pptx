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b30a0e98d34b6c" /><Relationship Type="http://schemas.openxmlformats.org/officeDocument/2006/relationships/extended-properties" Target="/docProps/app.xml" Id="R9a01ca1e92bf401b" /><Relationship Type="http://schemas.openxmlformats.org/officeDocument/2006/relationships/officeDocument" Target="/ppt/presentation.xml" Id="Re870cefdc2114815" /></Relationships>
</file>

<file path=ppt/presentation.xml><?xml version="1.0" encoding="utf-8"?>
<p:presentation xmlns:p="http://schemas.openxmlformats.org/presentationml/2006/main">
  <p:sldMasterIdLst>
    <p:sldMasterId xmlns:r="http://schemas.openxmlformats.org/officeDocument/2006/relationships" id="2147483648" r:id="Rabc14cea00254f46"/>
  </p:sldMasterIdLst>
  <p:notesMasterIdLst>
    <p:notesMasterId xmlns:r="http://schemas.openxmlformats.org/officeDocument/2006/relationships" r:id="Rd171c7194d494a28"/>
  </p:notesMasterIdLst>
  <p:sldIdLst>
    <p:sldId xmlns:r="http://schemas.openxmlformats.org/officeDocument/2006/relationships" id="256" r:id="R007e25fec6fe4d26"/>
    <p:sldId xmlns:r="http://schemas.openxmlformats.org/officeDocument/2006/relationships" id="257" r:id="R85d900c312334172"/>
    <p:sldId xmlns:r="http://schemas.openxmlformats.org/officeDocument/2006/relationships" id="258" r:id="R6a64a444aa7b4856"/>
    <p:sldId xmlns:r="http://schemas.openxmlformats.org/officeDocument/2006/relationships" id="259" r:id="R85644c5fe9fa48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8bab8a1d8947cd" /><Relationship Type="http://schemas.openxmlformats.org/officeDocument/2006/relationships/slideMaster" Target="/ppt/slideMasters/slideMaster1.xml" Id="Rabc14cea00254f46" /><Relationship Type="http://schemas.openxmlformats.org/officeDocument/2006/relationships/notesMaster" Target="/ppt/notesMasters/notesMaster1.xml" Id="Rd171c7194d494a28" /><Relationship Type="http://schemas.openxmlformats.org/officeDocument/2006/relationships/presProps" Target="/ppt/presProps.xml" Id="Rc1c8d1cd5abf4f77" /><Relationship Type="http://schemas.openxmlformats.org/officeDocument/2006/relationships/tableStyles" Target="/ppt/tableStyles.xml" Id="Raadc1561c9a04cb4" /><Relationship Type="http://schemas.openxmlformats.org/officeDocument/2006/relationships/slide" Target="/ppt/slides/slide1.xml" Id="R007e25fec6fe4d26" /><Relationship Type="http://schemas.openxmlformats.org/officeDocument/2006/relationships/slide" Target="/ppt/slides/slide2.xml" Id="R85d900c312334172" /><Relationship Type="http://schemas.openxmlformats.org/officeDocument/2006/relationships/slide" Target="/ppt/slides/slide3.xml" Id="R6a64a444aa7b4856" /><Relationship Type="http://schemas.openxmlformats.org/officeDocument/2006/relationships/slide" Target="/ppt/slides/slide4.xml" Id="R85644c5fe9fa48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aa44c38b4b44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Warm glass">
      <a:dk1>
        <a:srgbClr val="1E1E24"/>
      </a:dk1>
      <a:lt1>
        <a:srgbClr val="F7EBE8"/>
      </a:lt1>
      <a:dk2>
        <a:srgbClr val="444140"/>
      </a:dk2>
      <a:lt2>
        <a:srgbClr val="FFFFFF"/>
      </a:lt2>
      <a:accent1>
        <a:srgbClr val="FFA987"/>
      </a:accent1>
      <a:accent2>
        <a:srgbClr val="E54B4B"/>
      </a:accent2>
      <a:accent3>
        <a:srgbClr val="444140"/>
      </a:accent3>
      <a:accent4>
        <a:srgbClr val="F7EBE8"/>
      </a:accent4>
      <a:accent5>
        <a:srgbClr val="9E6E63"/>
      </a:accent5>
      <a:accent6>
        <a:srgbClr val="BBA9A3"/>
      </a:accent6>
      <a:hlink>
        <a:srgbClr val="FFA987"/>
      </a:hlink>
      <a:folHlink>
        <a:srgbClr val="FFA987"/>
      </a:folHlink>
    </a:clrScheme>
    <a:fontScheme name="Office">
      <a:majorFont>
        <a:latin typeface="Calibri Light"/>
        <a:ea typeface="Calibri Light"/>
        <a:cs typeface="Calibri Light"/>
      </a:majorFont>
      <a:minorFont>
        <a:latin typeface="Calibri"/>
        <a:ea typeface="Calibri"/>
        <a:cs typeface="Calibri"/>
      </a:minorFont>
    </a:fontScheme>
    <a:fmtScheme name="Warm glas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304800" dist="152400" dir="5400000">
              <a:srgbClr val="000000">
                <a:alpha val="18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05fd78bbc445e6" /><Relationship Type="http://schemas.openxmlformats.org/officeDocument/2006/relationships/notesMaster" Target="/ppt/notesMasters/notesMaster1.xml" Id="Rb843e0a1956745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543ee6ff624242" /><Relationship Type="http://schemas.openxmlformats.org/officeDocument/2006/relationships/notesMaster" Target="/ppt/notesMasters/notesMaster1.xml" Id="Raa5eb5e801c846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abdd47ee39461d" /><Relationship Type="http://schemas.openxmlformats.org/officeDocument/2006/relationships/notesMaster" Target="/ppt/notesMasters/notesMaster1.xml" Id="R8dcaa2bb61a149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c4f3f2bacb4f0b" /><Relationship Type="http://schemas.openxmlformats.org/officeDocument/2006/relationships/notesMaster" Target="/ppt/notesMasters/notesMaster1.xml" Id="R6fd325c624ec4a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Jen Sebastian Varghese — application responses prepared for Enigma. Media planning and buying.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Media is one of the few disciplines where a creative decision and a commercial number can connect within days. I want the discipline of deciding where every dollar goes, then watching the data tell me if I was right. I managed A$50K in annual spend across Meta, Amazon and Google Ads for two FMCG brands. Amazon ACOS fell from 42% to under 13%, while CTR increased 18–25%. That experience showed me how audience, placement and budget planning becomes a buying decision and then a business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shifts I am watching are retail media and first-party purchase-intent data; attention and outcome-based measurement across CTV and social; and AI-assisted bidding with human judgement. My creative perspective is that improving AI-generated work deserves fair evaluation. Creative can be prejudged as weak because it is tagged AI. Brands should judge effectiveness using CTR, conversion and brand lift, with disclosure and quality assurance frameworks that support trust.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Situation: At Auscare Group, Amazon ACOS sat at 42% across two FMCG brands, making spend too expensive relative to the return. Task: Lower ACOS without cutting spend so hard that the brands lost shelf visibility. Action: Analysed weekly ROAS, ACOS, CTR and conversion data across Meta, Amazon and Google, using SEMrush and GA4. Identified underperforming keywords, audiences and placements; reallocated budget in stages and tested each shift. Result: ACOS fell from 42% to under 13%, and CTR rose 18–25%. The brands had A$3.6M in combined annual revenue; this is brand context, not a claim of incremental revenue caused by the optimisation. The critical thinking was judging when a low ACOS was hurting visibility and where it was safe to keep pushing efficiency.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f3f82600d143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f9e7a1b9544435" /><Relationship Type="http://schemas.openxmlformats.org/officeDocument/2006/relationships/slideLayout" Target="/ppt/slideLayouts/slideLayout1.xml" Id="R4352ed3bd1d742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52ed3bd1d742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Warm glass">
      <a:dk1>
        <a:srgbClr val="1E1E24"/>
      </a:dk1>
      <a:lt1>
        <a:srgbClr val="F7EBE8"/>
      </a:lt1>
      <a:dk2>
        <a:srgbClr val="444140"/>
      </a:dk2>
      <a:lt2>
        <a:srgbClr val="FFFFFF"/>
      </a:lt2>
      <a:accent1>
        <a:srgbClr val="FFA987"/>
      </a:accent1>
      <a:accent2>
        <a:srgbClr val="E54B4B"/>
      </a:accent2>
      <a:accent3>
        <a:srgbClr val="444140"/>
      </a:accent3>
      <a:accent4>
        <a:srgbClr val="F7EBE8"/>
      </a:accent4>
      <a:accent5>
        <a:srgbClr val="9E6E63"/>
      </a:accent5>
      <a:accent6>
        <a:srgbClr val="BBA9A3"/>
      </a:accent6>
      <a:hlink>
        <a:srgbClr val="FFA987"/>
      </a:hlink>
      <a:folHlink>
        <a:srgbClr val="FFA987"/>
      </a:folHlink>
    </a:clrScheme>
    <a:fontScheme name="Office">
      <a:majorFont>
        <a:latin typeface="Calibri Light"/>
        <a:ea typeface="Calibri Light"/>
        <a:cs typeface="Calibri Light"/>
      </a:majorFont>
      <a:minorFont>
        <a:latin typeface="Calibri"/>
        <a:ea typeface="Calibri"/>
        <a:cs typeface="Calibri"/>
      </a:minorFont>
    </a:fontScheme>
    <a:fmtScheme name="Warm glas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304800" dist="152400" dir="5400000">
              <a:srgbClr val="000000">
                <a:alpha val="18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6f67ed897b486e" /><Relationship Type="http://schemas.openxmlformats.org/officeDocument/2006/relationships/notesSlide" Target="/ppt/notesSlides/notesSlide1.xml" Id="R68eed678aaec45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7d8497da97945e1" /><Relationship Type="http://schemas.openxmlformats.org/officeDocument/2006/relationships/notesSlide" Target="/ppt/notesSlides/notesSlide2.xml" Id="R465cc2b1eed248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40a2cb304584d4b" /><Relationship Type="http://schemas.openxmlformats.org/officeDocument/2006/relationships/notesSlide" Target="/ppt/notesSlides/notesSlide3.xml" Id="R23f77a74fe564b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1ba8d10707540ea" /><Relationship Type="http://schemas.openxmlformats.org/officeDocument/2006/relationships/notesSlide" Target="/ppt/notesSlides/notesSlide4.xml" Id="R0866097bf84240de" /></Relationships>
</file>

<file path=ppt/slides/slide1.xml><?xml version="1.0" encoding="utf-8"?>
<p:sld xmlns:p="http://schemas.openxmlformats.org/presentationml/2006/main">
  <p:cSld>
    <p:bg>
      <p:bgPr>
        <a:gradFill xmlns:a="http://schemas.openxmlformats.org/drawingml/2006/main">
          <a:gsLst>
            <a:gs pos="0">
              <a:srgbClr val="1E1E24"/>
            </a:gs>
            <a:gs pos="43000">
              <a:srgbClr val="252429"/>
            </a:gs>
            <a:gs pos="77000">
              <a:srgbClr val="444140"/>
            </a:gs>
            <a:gs pos="100000">
              <a:srgbClr val="82574D"/>
            </a:gs>
          </a:gsLst>
          <a:lin ang="1680000"/>
        </a:gradFill>
      </p:bgPr>
    </p:bg>
    <p:spTree>
      <p:nvGrpSpPr>
        <p:cNvPr id="1" name=""/>
        <p:cNvGrpSpPr/>
        <p:nvPr/>
      </p:nvGrpSpPr>
      <p:grpSpPr>
        <a:xfrm xmlns:a="http://schemas.openxmlformats.org/drawingml/2006/main"/>
      </p:grpSpPr>
      <p:sp>
        <p:nvSpPr>
          <p:cNvPr id="8" name="Page">
            <a:extLst xmlns:a="http://schemas.openxmlformats.org/drawingml/2006/main">
              <a:ext uri="{FF2B5EF4-FFF2-40B4-BE49-F238E27FC236}">
                <a16:creationId xmlns:a16="http://schemas.microsoft.com/office/drawing/2014/main" id="{6605EE57-7F24-4D90-BFF3-E0F1416C2D70}"/>
              </a:ext>
            </a:extLst>
          </p:cNvPr>
          <p:cNvSpPr>
            <a:spLocks xmlns:a="http://schemas.openxmlformats.org/drawingml/2006/main" noGrp="1"/>
          </p:cNvSpPr>
          <p:nvPr/>
        </p:nvSpPr>
        <p:spPr>
          <a:xfrm xmlns:a="http://schemas.openxmlformats.org/drawingml/2006/main">
            <a:off x="11144250" y="64008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D3C8C5"/>
                </a:solidFill>
                <a:latin typeface="Helvetica Neue"/>
                <a:ea typeface="Helvetica Neue"/>
                <a:cs typeface="Helvetica Neue"/>
              </a:defRPr>
            </a:pPr>
            <a:r>
              <a:rPr sz="1125" b="0">
                <a:solidFill>
                  <a:srgbClr val="D3C8C5"/>
                </a:solidFill>
                <a:latin typeface="Helvetica Neue"/>
                <a:ea typeface="Helvetica Neue"/>
                <a:cs typeface="Helvetica Neue"/>
              </a:rPr>
              <a:t>01</a:t>
            </a:r>
          </a:p>
        </p:txBody>
      </p:sp>
      <p:sp>
        <p:nvSpPr>
          <p:cNvPr id="2" name="Cover glass">
            <a:extLst xmlns:a="http://schemas.openxmlformats.org/drawingml/2006/main">
              <a:ext uri="{FF2B5EF4-FFF2-40B4-BE49-F238E27FC236}">
                <a16:creationId xmlns:a16="http://schemas.microsoft.com/office/drawing/2014/main" id="{D9F336E8-2242-4CF3-94BD-F6628F894968}"/>
              </a:ext>
            </a:extLst>
          </p:cNvPr>
          <p:cNvSpPr>
            <a:spLocks xmlns:a="http://schemas.openxmlformats.org/drawingml/2006/main" noGrp="1"/>
          </p:cNvSpPr>
          <p:nvPr/>
        </p:nvSpPr>
        <p:spPr>
          <a:xfrm xmlns:a="http://schemas.openxmlformats.org/drawingml/2006/main">
            <a:off x="533400" y="533400"/>
            <a:ext cx="11125200" cy="5791200"/>
          </a:xfrm>
          <a:prstGeom xmlns:a="http://schemas.openxmlformats.org/drawingml/2006/main" prst="roundRect">
            <a:avLst>
              <a:gd name="adj" fmla="val 3947"/>
            </a:avLst>
          </a:prstGeom>
          <a:gradFill xmlns:a="http://schemas.openxmlformats.org/drawingml/2006/main">
            <a:gsLst>
              <a:gs pos="0">
                <a:srgbClr val="F7EBE8">
                  <a:alpha val="14000"/>
                </a:srgbClr>
              </a:gs>
              <a:gs pos="52000">
                <a:srgbClr val="F7EBE8">
                  <a:alpha val="5000"/>
                </a:srgbClr>
              </a:gs>
              <a:gs pos="100000">
                <a:srgbClr val="F7EBE8">
                  <a:alpha val="9000"/>
                </a:srgbClr>
              </a:gs>
            </a:gsLst>
            <a:lin ang="7500000"/>
          </a:gradFill>
          <a:ln xmlns:a="http://schemas.openxmlformats.org/drawingml/2006/main" w="9525">
            <a:solidFill>
              <a:srgbClr val="F7EBE8">
                <a:alpha val="24000"/>
              </a:srgbClr>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3" name="Cover eyebrow">
            <a:extLst xmlns:a="http://schemas.openxmlformats.org/drawingml/2006/main">
              <a:ext uri="{FF2B5EF4-FFF2-40B4-BE49-F238E27FC236}">
                <a16:creationId xmlns:a16="http://schemas.microsoft.com/office/drawing/2014/main" id="{2B247ED5-9CEF-4594-9773-4D25005022B3}"/>
              </a:ext>
            </a:extLst>
          </p:cNvPr>
          <p:cNvSpPr>
            <a:spLocks xmlns:a="http://schemas.openxmlformats.org/drawingml/2006/main" noGrp="1"/>
          </p:cNvSpPr>
          <p:nvPr/>
        </p:nvSpPr>
        <p:spPr>
          <a:xfrm xmlns:a="http://schemas.openxmlformats.org/drawingml/2006/main">
            <a:off x="990600" y="952500"/>
            <a:ext cx="809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425" b="1">
                <a:solidFill>
                  <a:srgbClr val="FFA987"/>
                </a:solidFill>
                <a:latin typeface="Helvetica Neue"/>
                <a:ea typeface="Helvetica Neue"/>
                <a:cs typeface="Helvetica Neue"/>
              </a:defRPr>
            </a:pPr>
            <a:r>
              <a:rPr sz="1425" b="1">
                <a:solidFill>
                  <a:srgbClr val="FFA987"/>
                </a:solidFill>
                <a:latin typeface="Helvetica Neue"/>
                <a:ea typeface="Helvetica Neue"/>
                <a:cs typeface="Helvetica Neue"/>
              </a:rPr>
              <a:t>PREPARED FOR ENIGMA</a:t>
            </a:r>
          </a:p>
        </p:txBody>
      </p:sp>
      <p:sp>
        <p:nvSpPr>
          <p:cNvPr id="4" name="Cover title">
            <a:extLst xmlns:a="http://schemas.openxmlformats.org/drawingml/2006/main">
              <a:ext uri="{FF2B5EF4-FFF2-40B4-BE49-F238E27FC236}">
                <a16:creationId xmlns:a16="http://schemas.microsoft.com/office/drawing/2014/main" id="{5CDB38BB-2399-4553-BB9D-2646E9ADF802}"/>
              </a:ext>
            </a:extLst>
          </p:cNvPr>
          <p:cNvSpPr>
            <a:spLocks xmlns:a="http://schemas.openxmlformats.org/drawingml/2006/main" noGrp="1"/>
          </p:cNvSpPr>
          <p:nvPr/>
        </p:nvSpPr>
        <p:spPr>
          <a:xfrm xmlns:a="http://schemas.openxmlformats.org/drawingml/2006/main">
            <a:off x="990600" y="1762125"/>
            <a:ext cx="10001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6450" b="1">
                <a:solidFill>
                  <a:srgbClr val="F7EBE8"/>
                </a:solidFill>
                <a:latin typeface="Helvetica Neue"/>
                <a:ea typeface="Helvetica Neue"/>
                <a:cs typeface="Helvetica Neue"/>
              </a:defRPr>
            </a:pPr>
            <a:r>
              <a:rPr sz="6450" b="1">
                <a:solidFill>
                  <a:srgbClr val="F7EBE8"/>
                </a:solidFill>
                <a:latin typeface="Helvetica Neue"/>
                <a:ea typeface="Helvetica Neue"/>
                <a:cs typeface="Helvetica Neue"/>
              </a:rPr>
              <a:t>Media planning</a:t>
            </a:r>
          </a:p>
          <a:p xmlns:a="http://schemas.openxmlformats.org/drawingml/2006/main">
            <a:pPr algn="l">
              <a:lnSpc>
                <a:spcPct val="115000"/>
              </a:lnSpc>
              <a:buNone/>
              <a:defRPr sz="6450" b="1">
                <a:solidFill>
                  <a:srgbClr val="F7EBE8"/>
                </a:solidFill>
                <a:latin typeface="Helvetica Neue"/>
                <a:ea typeface="Helvetica Neue"/>
                <a:cs typeface="Helvetica Neue"/>
              </a:defRPr>
            </a:pPr>
            <a:r>
              <a:rPr sz="6450" b="1">
                <a:solidFill>
                  <a:srgbClr val="F7EBE8"/>
                </a:solidFill>
                <a:latin typeface="Helvetica Neue"/>
                <a:ea typeface="Helvetica Neue"/>
                <a:cs typeface="Helvetica Neue"/>
              </a:rPr>
              <a:t>&amp; buying.</a:t>
            </a:r>
          </a:p>
        </p:txBody>
      </p:sp>
      <p:sp>
        <p:nvSpPr>
          <p:cNvPr id="5" name="Cover subtitle">
            <a:extLst xmlns:a="http://schemas.openxmlformats.org/drawingml/2006/main">
              <a:ext uri="{FF2B5EF4-FFF2-40B4-BE49-F238E27FC236}">
                <a16:creationId xmlns:a16="http://schemas.microsoft.com/office/drawing/2014/main" id="{75885302-9FC7-43CB-B1A3-94B5DF1EC449}"/>
              </a:ext>
            </a:extLst>
          </p:cNvPr>
          <p:cNvSpPr>
            <a:spLocks xmlns:a="http://schemas.openxmlformats.org/drawingml/2006/main" noGrp="1"/>
          </p:cNvSpPr>
          <p:nvPr/>
        </p:nvSpPr>
        <p:spPr>
          <a:xfrm xmlns:a="http://schemas.openxmlformats.org/drawingml/2006/main">
            <a:off x="1028700" y="4267200"/>
            <a:ext cx="762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400" b="0">
                <a:solidFill>
                  <a:srgbClr val="D3C8C5"/>
                </a:solidFill>
                <a:latin typeface="Helvetica Neue"/>
                <a:ea typeface="Helvetica Neue"/>
                <a:cs typeface="Helvetica Neue"/>
              </a:defRPr>
            </a:pPr>
            <a:r>
              <a:rPr sz="2400" b="0">
                <a:solidFill>
                  <a:srgbClr val="D3C8C5"/>
                </a:solidFill>
                <a:latin typeface="Helvetica Neue"/>
                <a:ea typeface="Helvetica Neue"/>
                <a:cs typeface="Helvetica Neue"/>
              </a:rPr>
              <a:t>Application responses</a:t>
            </a:r>
          </a:p>
        </p:txBody>
      </p:sp>
      <p:sp>
        <p:nvSpPr>
          <p:cNvPr id="6" name="Glass divider">
            <a:extLst xmlns:a="http://schemas.openxmlformats.org/drawingml/2006/main">
              <a:ext uri="{FF2B5EF4-FFF2-40B4-BE49-F238E27FC236}">
                <a16:creationId xmlns:a16="http://schemas.microsoft.com/office/drawing/2014/main" id="{220802CE-1B37-42D1-9B24-8D02D52E1313}"/>
              </a:ext>
            </a:extLst>
          </p:cNvPr>
          <p:cNvSpPr>
            <a:spLocks xmlns:a="http://schemas.openxmlformats.org/drawingml/2006/main" noGrp="1"/>
          </p:cNvSpPr>
          <p:nvPr/>
        </p:nvSpPr>
        <p:spPr>
          <a:xfrm xmlns:a="http://schemas.openxmlformats.org/drawingml/2006/main">
            <a:off x="1028700" y="5124450"/>
            <a:ext cx="10134600" cy="0"/>
          </a:xfrm>
          <a:prstGeom xmlns:a="http://schemas.openxmlformats.org/drawingml/2006/main" prst="line">
            <a:avLst/>
          </a:prstGeom>
          <a:noFill xmlns:a="http://schemas.openxmlformats.org/drawingml/2006/main"/>
          <a:ln xmlns:a="http://schemas.openxmlformats.org/drawingml/2006/main" w="9525">
            <a:solidFill>
              <a:srgbClr val="F7EBE8">
                <a:alpha val="18000"/>
              </a:srgbClr>
            </a:solidFill>
            <a:prstDash val="solid"/>
          </a:ln>
        </p:spPr>
      </p:sp>
      <p:sp>
        <p:nvSpPr>
          <p:cNvPr id="7" name="Applicant">
            <a:extLst xmlns:a="http://schemas.openxmlformats.org/drawingml/2006/main">
              <a:ext uri="{FF2B5EF4-FFF2-40B4-BE49-F238E27FC236}">
                <a16:creationId xmlns:a16="http://schemas.microsoft.com/office/drawing/2014/main" id="{9E7D6408-77A8-4E61-895A-5A25364E5D13}"/>
              </a:ext>
            </a:extLst>
          </p:cNvPr>
          <p:cNvSpPr>
            <a:spLocks xmlns:a="http://schemas.openxmlformats.org/drawingml/2006/main" noGrp="1"/>
          </p:cNvSpPr>
          <p:nvPr/>
        </p:nvSpPr>
        <p:spPr>
          <a:xfrm xmlns:a="http://schemas.openxmlformats.org/drawingml/2006/main">
            <a:off x="1028700" y="5391150"/>
            <a:ext cx="857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100" b="0">
                <a:solidFill>
                  <a:srgbClr val="F7EBE8"/>
                </a:solidFill>
                <a:latin typeface="Helvetica Neue"/>
                <a:ea typeface="Helvetica Neue"/>
                <a:cs typeface="Helvetica Neue"/>
              </a:defRPr>
            </a:pPr>
            <a:r>
              <a:rPr sz="2100" b="0">
                <a:solidFill>
                  <a:srgbClr val="F7EBE8"/>
                </a:solidFill>
                <a:latin typeface="Helvetica Neue"/>
                <a:ea typeface="Helvetica Neue"/>
                <a:cs typeface="Helvetica Neue"/>
              </a:rPr>
              <a:t>Jen Sebastian Varghese</a:t>
            </a:r>
          </a:p>
        </p:txBody>
      </p:sp>
    </p:spTree>
    <p:extLst>
      <p:ext uri="{BB962C8B-B14F-4D97-AF65-F5344CB8AC3E}">
        <p14:creationId xmlns:p14="http://schemas.microsoft.com/office/powerpoint/2010/main" val="56964671"/>
      </p:ext>
    </p:extLst>
  </p:cSld>
</p:sld>
</file>

<file path=ppt/slides/slide2.xml><?xml version="1.0" encoding="utf-8"?>
<p:sld xmlns:p="http://schemas.openxmlformats.org/presentationml/2006/main">
  <p:cSld>
    <p:bg>
      <p:bgPr>
        <a:gradFill xmlns:a="http://schemas.openxmlformats.org/drawingml/2006/main">
          <a:gsLst>
            <a:gs pos="0">
              <a:srgbClr val="1E1E24"/>
            </a:gs>
            <a:gs pos="43000">
              <a:srgbClr val="252429"/>
            </a:gs>
            <a:gs pos="77000">
              <a:srgbClr val="444140"/>
            </a:gs>
            <a:gs pos="100000">
              <a:srgbClr val="82574D"/>
            </a:gs>
          </a:gsLst>
          <a:lin ang="1680000"/>
        </a:gradFill>
      </p:bgPr>
    </p:bg>
    <p:spTree>
      <p:nvGrpSpPr>
        <p:cNvPr id="1" name=""/>
        <p:cNvGrpSpPr/>
        <p:nvPr/>
      </p:nvGrpSpPr>
      <p:grpSpPr>
        <a:xfrm xmlns:a="http://schemas.openxmlformats.org/drawingml/2006/main"/>
      </p:grpSpPr>
      <p:sp>
        <p:nvSpPr>
          <p:cNvPr id="17" name="Question">
            <a:extLst xmlns:a="http://schemas.openxmlformats.org/drawingml/2006/main">
              <a:ext uri="{FF2B5EF4-FFF2-40B4-BE49-F238E27FC236}">
                <a16:creationId xmlns:a16="http://schemas.microsoft.com/office/drawing/2014/main" id="{7489EB2D-DE7D-49CD-85C1-6509852CEF31}"/>
              </a:ext>
            </a:extLst>
          </p:cNvPr>
          <p:cNvSpPr>
            <a:spLocks xmlns:a="http://schemas.openxmlformats.org/drawingml/2006/main" noGrp="1"/>
          </p:cNvSpPr>
          <p:nvPr/>
        </p:nvSpPr>
        <p:spPr>
          <a:xfrm xmlns:a="http://schemas.openxmlformats.org/drawingml/2006/main">
            <a:off x="609600" y="40957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1">
                <a:solidFill>
                  <a:srgbClr val="FFA987"/>
                </a:solidFill>
                <a:latin typeface="Helvetica Neue"/>
                <a:ea typeface="Helvetica Neue"/>
                <a:cs typeface="Helvetica Neue"/>
              </a:defRPr>
            </a:pPr>
            <a:r>
              <a:rPr sz="1275" b="1">
                <a:solidFill>
                  <a:srgbClr val="FFA987"/>
                </a:solidFill>
                <a:latin typeface="Helvetica Neue"/>
                <a:ea typeface="Helvetica Neue"/>
                <a:cs typeface="Helvetica Neue"/>
              </a:rPr>
              <a:t>QUESTION 1</a:t>
            </a:r>
          </a:p>
        </p:txBody>
      </p:sp>
      <p:sp>
        <p:nvSpPr>
          <p:cNvPr id="2" name="Title">
            <a:extLst xmlns:a="http://schemas.openxmlformats.org/drawingml/2006/main">
              <a:ext uri="{FF2B5EF4-FFF2-40B4-BE49-F238E27FC236}">
                <a16:creationId xmlns:a16="http://schemas.microsoft.com/office/drawing/2014/main" id="{5E1123DD-A4E7-42CB-8CD9-8BC0ED5702FE}"/>
              </a:ext>
            </a:extLst>
          </p:cNvPr>
          <p:cNvSpPr>
            <a:spLocks xmlns:a="http://schemas.openxmlformats.org/drawingml/2006/main" noGrp="1"/>
          </p:cNvSpPr>
          <p:nvPr/>
        </p:nvSpPr>
        <p:spPr>
          <a:xfrm xmlns:a="http://schemas.openxmlformats.org/drawingml/2006/main">
            <a:off x="609600" y="80010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450" b="1">
                <a:solidFill>
                  <a:srgbClr val="F7EBE8"/>
                </a:solidFill>
                <a:latin typeface="Helvetica Neue"/>
                <a:ea typeface="Helvetica Neue"/>
                <a:cs typeface="Helvetica Neue"/>
              </a:defRPr>
            </a:pPr>
            <a:r>
              <a:rPr sz="3450" b="1">
                <a:solidFill>
                  <a:srgbClr val="F7EBE8"/>
                </a:solidFill>
                <a:latin typeface="Helvetica Neue"/>
                <a:ea typeface="Helvetica Neue"/>
                <a:cs typeface="Helvetica Neue"/>
              </a:rPr>
              <a:t>Why I want a career in media</a:t>
            </a:r>
          </a:p>
        </p:txBody>
      </p:sp>
      <p:sp>
        <p:nvSpPr>
          <p:cNvPr id="3" name="Page">
            <a:extLst xmlns:a="http://schemas.openxmlformats.org/drawingml/2006/main">
              <a:ext uri="{FF2B5EF4-FFF2-40B4-BE49-F238E27FC236}">
                <a16:creationId xmlns:a16="http://schemas.microsoft.com/office/drawing/2014/main" id="{9E7A6640-8CCA-4C2B-ACCC-036F70224085}"/>
              </a:ext>
            </a:extLst>
          </p:cNvPr>
          <p:cNvSpPr>
            <a:spLocks xmlns:a="http://schemas.openxmlformats.org/drawingml/2006/main" noGrp="1"/>
          </p:cNvSpPr>
          <p:nvPr/>
        </p:nvSpPr>
        <p:spPr>
          <a:xfrm xmlns:a="http://schemas.openxmlformats.org/drawingml/2006/main">
            <a:off x="11144250" y="64008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D3C8C5"/>
                </a:solidFill>
                <a:latin typeface="Helvetica Neue"/>
                <a:ea typeface="Helvetica Neue"/>
                <a:cs typeface="Helvetica Neue"/>
              </a:defRPr>
            </a:pPr>
            <a:r>
              <a:rPr sz="1125" b="0">
                <a:solidFill>
                  <a:srgbClr val="D3C8C5"/>
                </a:solidFill>
                <a:latin typeface="Helvetica Neue"/>
                <a:ea typeface="Helvetica Neue"/>
                <a:cs typeface="Helvetica Neue"/>
              </a:rPr>
              <a:t>02</a:t>
            </a:r>
          </a:p>
        </p:txBody>
      </p:sp>
      <p:sp>
        <p:nvSpPr>
          <p:cNvPr id="4" name="Perspective heading">
            <a:extLst xmlns:a="http://schemas.openxmlformats.org/drawingml/2006/main">
              <a:ext uri="{FF2B5EF4-FFF2-40B4-BE49-F238E27FC236}">
                <a16:creationId xmlns:a16="http://schemas.microsoft.com/office/drawing/2014/main" id="{3C0D1793-8A17-4798-9C7E-26950BFC3289}"/>
              </a:ext>
            </a:extLst>
          </p:cNvPr>
          <p:cNvSpPr>
            <a:spLocks xmlns:a="http://schemas.openxmlformats.org/drawingml/2006/main" noGrp="1"/>
          </p:cNvSpPr>
          <p:nvPr/>
        </p:nvSpPr>
        <p:spPr>
          <a:xfrm xmlns:a="http://schemas.openxmlformats.org/drawingml/2006/main">
            <a:off x="609600" y="1981200"/>
            <a:ext cx="4667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700" b="1">
                <a:solidFill>
                  <a:srgbClr val="F7EBE8"/>
                </a:solidFill>
                <a:latin typeface="Helvetica Neue"/>
                <a:ea typeface="Helvetica Neue"/>
                <a:cs typeface="Helvetica Neue"/>
              </a:defRPr>
            </a:pPr>
            <a:r>
              <a:rPr sz="2700" b="1">
                <a:solidFill>
                  <a:srgbClr val="F7EBE8"/>
                </a:solidFill>
                <a:latin typeface="Helvetica Neue"/>
                <a:ea typeface="Helvetica Neue"/>
                <a:cs typeface="Helvetica Neue"/>
              </a:rPr>
              <a:t>Where creativity</a:t>
            </a:r>
          </a:p>
          <a:p xmlns:a="http://schemas.openxmlformats.org/drawingml/2006/main">
            <a:pPr algn="l">
              <a:lnSpc>
                <a:spcPct val="115000"/>
              </a:lnSpc>
              <a:buNone/>
              <a:defRPr sz="2700" b="1">
                <a:solidFill>
                  <a:srgbClr val="F7EBE8"/>
                </a:solidFill>
                <a:latin typeface="Helvetica Neue"/>
                <a:ea typeface="Helvetica Neue"/>
                <a:cs typeface="Helvetica Neue"/>
              </a:defRPr>
            </a:pPr>
            <a:r>
              <a:rPr sz="2700" b="1">
                <a:solidFill>
                  <a:srgbClr val="F7EBE8"/>
                </a:solidFill>
                <a:latin typeface="Helvetica Neue"/>
                <a:ea typeface="Helvetica Neue"/>
                <a:cs typeface="Helvetica Neue"/>
              </a:rPr>
              <a:t>meets proof.</a:t>
            </a:r>
          </a:p>
        </p:txBody>
      </p:sp>
      <p:sp>
        <p:nvSpPr>
          <p:cNvPr id="5" name="Perspective">
            <a:extLst xmlns:a="http://schemas.openxmlformats.org/drawingml/2006/main">
              <a:ext uri="{FF2B5EF4-FFF2-40B4-BE49-F238E27FC236}">
                <a16:creationId xmlns:a16="http://schemas.microsoft.com/office/drawing/2014/main" id="{E4C5C729-C6B4-4E08-991A-BBFA2F50F8DE}"/>
              </a:ext>
            </a:extLst>
          </p:cNvPr>
          <p:cNvSpPr>
            <a:spLocks xmlns:a="http://schemas.openxmlformats.org/drawingml/2006/main" noGrp="1"/>
          </p:cNvSpPr>
          <p:nvPr/>
        </p:nvSpPr>
        <p:spPr>
          <a:xfrm xmlns:a="http://schemas.openxmlformats.org/drawingml/2006/main">
            <a:off x="609600" y="3067050"/>
            <a:ext cx="45720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0">
                <a:solidFill>
                  <a:srgbClr val="D3C8C5"/>
                </a:solidFill>
                <a:latin typeface="Helvetica Neue"/>
                <a:ea typeface="Helvetica Neue"/>
                <a:cs typeface="Helvetica Neue"/>
              </a:defRPr>
            </a:pPr>
            <a:r>
              <a:rPr sz="1950" b="0">
                <a:solidFill>
                  <a:srgbClr val="D3C8C5"/>
                </a:solidFill>
                <a:latin typeface="Helvetica Neue"/>
                <a:ea typeface="Helvetica Neue"/>
                <a:cs typeface="Helvetica Neue"/>
              </a:rPr>
              <a:t>Media connects creative decisions to commercial results. I’m drawn to deciding where every dollar goes, then using the data to test that judgement.</a:t>
            </a:r>
          </a:p>
        </p:txBody>
      </p:sp>
      <p:sp>
        <p:nvSpPr>
          <p:cNvPr id="6" name="Experience link">
            <a:extLst xmlns:a="http://schemas.openxmlformats.org/drawingml/2006/main">
              <a:ext uri="{FF2B5EF4-FFF2-40B4-BE49-F238E27FC236}">
                <a16:creationId xmlns:a16="http://schemas.microsoft.com/office/drawing/2014/main" id="{194F7639-DEEF-402D-B5F9-CE5DCDA16AA2}"/>
              </a:ext>
            </a:extLst>
          </p:cNvPr>
          <p:cNvSpPr>
            <a:spLocks xmlns:a="http://schemas.openxmlformats.org/drawingml/2006/main" noGrp="1"/>
          </p:cNvSpPr>
          <p:nvPr/>
        </p:nvSpPr>
        <p:spPr>
          <a:xfrm xmlns:a="http://schemas.openxmlformats.org/drawingml/2006/main">
            <a:off x="609600" y="4705350"/>
            <a:ext cx="4572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0">
                <a:solidFill>
                  <a:srgbClr val="D3C8C5"/>
                </a:solidFill>
                <a:latin typeface="Helvetica Neue"/>
                <a:ea typeface="Helvetica Neue"/>
                <a:cs typeface="Helvetica Neue"/>
              </a:defRPr>
            </a:pPr>
            <a:r>
              <a:rPr sz="1725" b="0">
                <a:solidFill>
                  <a:srgbClr val="D3C8C5"/>
                </a:solidFill>
                <a:latin typeface="Helvetica Neue"/>
                <a:ea typeface="Helvetica Neue"/>
                <a:cs typeface="Helvetica Neue"/>
              </a:rPr>
              <a:t>I’ve seen how audience, placement and budget choices become buying decisions and business outcomes.</a:t>
            </a:r>
          </a:p>
        </p:txBody>
      </p:sp>
      <p:sp>
        <p:nvSpPr>
          <p:cNvPr id="7" name="Experience glass">
            <a:extLst xmlns:a="http://schemas.openxmlformats.org/drawingml/2006/main">
              <a:ext uri="{FF2B5EF4-FFF2-40B4-BE49-F238E27FC236}">
                <a16:creationId xmlns:a16="http://schemas.microsoft.com/office/drawing/2014/main" id="{D39E650E-C5F0-455E-A28E-B62D6AA06BE9}"/>
              </a:ext>
            </a:extLst>
          </p:cNvPr>
          <p:cNvSpPr>
            <a:spLocks xmlns:a="http://schemas.openxmlformats.org/drawingml/2006/main" noGrp="1"/>
          </p:cNvSpPr>
          <p:nvPr/>
        </p:nvSpPr>
        <p:spPr>
          <a:xfrm xmlns:a="http://schemas.openxmlformats.org/drawingml/2006/main">
            <a:off x="5657850" y="1885950"/>
            <a:ext cx="5924550" cy="3857625"/>
          </a:xfrm>
          <a:prstGeom xmlns:a="http://schemas.openxmlformats.org/drawingml/2006/main" prst="roundRect">
            <a:avLst>
              <a:gd name="adj" fmla="val 5926"/>
            </a:avLst>
          </a:prstGeom>
          <a:gradFill xmlns:a="http://schemas.openxmlformats.org/drawingml/2006/main">
            <a:gsLst>
              <a:gs pos="0">
                <a:srgbClr val="F7EBE8">
                  <a:alpha val="14000"/>
                </a:srgbClr>
              </a:gs>
              <a:gs pos="52000">
                <a:srgbClr val="F7EBE8">
                  <a:alpha val="5000"/>
                </a:srgbClr>
              </a:gs>
              <a:gs pos="100000">
                <a:srgbClr val="F7EBE8">
                  <a:alpha val="9000"/>
                </a:srgbClr>
              </a:gs>
            </a:gsLst>
            <a:lin ang="7500000"/>
          </a:gradFill>
          <a:ln xmlns:a="http://schemas.openxmlformats.org/drawingml/2006/main" w="9525">
            <a:solidFill>
              <a:srgbClr val="F7EBE8">
                <a:alpha val="24000"/>
              </a:srgbClr>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8" name="Experience heading">
            <a:extLst xmlns:a="http://schemas.openxmlformats.org/drawingml/2006/main">
              <a:ext uri="{FF2B5EF4-FFF2-40B4-BE49-F238E27FC236}">
                <a16:creationId xmlns:a16="http://schemas.microsoft.com/office/drawing/2014/main" id="{9F125B73-C4A6-4F5F-82B9-9B232984A163}"/>
              </a:ext>
            </a:extLst>
          </p:cNvPr>
          <p:cNvSpPr>
            <a:spLocks xmlns:a="http://schemas.openxmlformats.org/drawingml/2006/main" noGrp="1"/>
          </p:cNvSpPr>
          <p:nvPr/>
        </p:nvSpPr>
        <p:spPr>
          <a:xfrm xmlns:a="http://schemas.openxmlformats.org/drawingml/2006/main">
            <a:off x="5981700" y="2152650"/>
            <a:ext cx="533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1">
                <a:solidFill>
                  <a:srgbClr val="F7EBE8"/>
                </a:solidFill>
                <a:latin typeface="Helvetica Neue"/>
                <a:ea typeface="Helvetica Neue"/>
                <a:cs typeface="Helvetica Neue"/>
              </a:defRPr>
            </a:pPr>
            <a:r>
              <a:rPr sz="1725" b="1">
                <a:solidFill>
                  <a:srgbClr val="F7EBE8"/>
                </a:solidFill>
                <a:latin typeface="Helvetica Neue"/>
                <a:ea typeface="Helvetica Neue"/>
                <a:cs typeface="Helvetica Neue"/>
              </a:rPr>
              <a:t>Experience behind the ambition</a:t>
            </a:r>
          </a:p>
        </p:txBody>
      </p:sp>
      <p:sp>
        <p:nvSpPr>
          <p:cNvPr id="9" name="Spend">
            <a:extLst xmlns:a="http://schemas.openxmlformats.org/drawingml/2006/main">
              <a:ext uri="{FF2B5EF4-FFF2-40B4-BE49-F238E27FC236}">
                <a16:creationId xmlns:a16="http://schemas.microsoft.com/office/drawing/2014/main" id="{4C3F30AE-BC96-4357-9DB0-0AB16005E167}"/>
              </a:ext>
            </a:extLst>
          </p:cNvPr>
          <p:cNvSpPr>
            <a:spLocks xmlns:a="http://schemas.openxmlformats.org/drawingml/2006/main" noGrp="1"/>
          </p:cNvSpPr>
          <p:nvPr/>
        </p:nvSpPr>
        <p:spPr>
          <a:xfrm xmlns:a="http://schemas.openxmlformats.org/drawingml/2006/main">
            <a:off x="5981700" y="2686050"/>
            <a:ext cx="5143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4200" b="1">
                <a:solidFill>
                  <a:srgbClr val="FFA987"/>
                </a:solidFill>
                <a:latin typeface="Helvetica Neue"/>
                <a:ea typeface="Helvetica Neue"/>
                <a:cs typeface="Helvetica Neue"/>
              </a:defRPr>
            </a:pPr>
            <a:r>
              <a:rPr sz="4200" b="1">
                <a:solidFill>
                  <a:srgbClr val="FFA987"/>
                </a:solidFill>
                <a:latin typeface="Helvetica Neue"/>
                <a:ea typeface="Helvetica Neue"/>
                <a:cs typeface="Helvetica Neue"/>
              </a:rPr>
              <a:t>A$50K</a:t>
            </a:r>
          </a:p>
        </p:txBody>
      </p:sp>
      <p:sp>
        <p:nvSpPr>
          <p:cNvPr id="10" name="Spend context">
            <a:extLst xmlns:a="http://schemas.openxmlformats.org/drawingml/2006/main">
              <a:ext uri="{FF2B5EF4-FFF2-40B4-BE49-F238E27FC236}">
                <a16:creationId xmlns:a16="http://schemas.microsoft.com/office/drawing/2014/main" id="{5F5D2DAA-E9AA-4062-873E-247107220063}"/>
              </a:ext>
            </a:extLst>
          </p:cNvPr>
          <p:cNvSpPr>
            <a:spLocks xmlns:a="http://schemas.openxmlformats.org/drawingml/2006/main" noGrp="1"/>
          </p:cNvSpPr>
          <p:nvPr/>
        </p:nvSpPr>
        <p:spPr>
          <a:xfrm xmlns:a="http://schemas.openxmlformats.org/drawingml/2006/main">
            <a:off x="6000750" y="3352800"/>
            <a:ext cx="5048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F7EBE8"/>
                </a:solidFill>
                <a:latin typeface="Helvetica Neue"/>
                <a:ea typeface="Helvetica Neue"/>
                <a:cs typeface="Helvetica Neue"/>
              </a:defRPr>
            </a:pPr>
            <a:r>
              <a:rPr sz="1800" b="0">
                <a:solidFill>
                  <a:srgbClr val="F7EBE8"/>
                </a:solidFill>
                <a:latin typeface="Helvetica Neue"/>
                <a:ea typeface="Helvetica Neue"/>
                <a:cs typeface="Helvetica Neue"/>
              </a:rPr>
              <a:t>Annual spend · two FMCG brands</a:t>
            </a:r>
          </a:p>
          <a:p xmlns:a="http://schemas.openxmlformats.org/drawingml/2006/main">
            <a:pPr algn="l">
              <a:lnSpc>
                <a:spcPct val="115000"/>
              </a:lnSpc>
              <a:buNone/>
              <a:defRPr sz="1800" b="0">
                <a:solidFill>
                  <a:srgbClr val="F7EBE8"/>
                </a:solidFill>
                <a:latin typeface="Helvetica Neue"/>
                <a:ea typeface="Helvetica Neue"/>
                <a:cs typeface="Helvetica Neue"/>
              </a:defRPr>
            </a:pPr>
            <a:r>
              <a:rPr sz="1800" b="0">
                <a:solidFill>
                  <a:srgbClr val="F7EBE8"/>
                </a:solidFill>
                <a:latin typeface="Helvetica Neue"/>
                <a:ea typeface="Helvetica Neue"/>
                <a:cs typeface="Helvetica Neue"/>
              </a:rPr>
              <a:t>Meta, Amazon and Google Ads</a:t>
            </a:r>
          </a:p>
        </p:txBody>
      </p:sp>
      <p:sp>
        <p:nvSpPr>
          <p:cNvPr id="11" name="Glass divider">
            <a:extLst xmlns:a="http://schemas.openxmlformats.org/drawingml/2006/main">
              <a:ext uri="{FF2B5EF4-FFF2-40B4-BE49-F238E27FC236}">
                <a16:creationId xmlns:a16="http://schemas.microsoft.com/office/drawing/2014/main" id="{6F5B44DA-B912-4C9C-A6DB-3895777E3CFE}"/>
              </a:ext>
            </a:extLst>
          </p:cNvPr>
          <p:cNvSpPr>
            <a:spLocks xmlns:a="http://schemas.openxmlformats.org/drawingml/2006/main" noGrp="1"/>
          </p:cNvSpPr>
          <p:nvPr/>
        </p:nvSpPr>
        <p:spPr>
          <a:xfrm xmlns:a="http://schemas.openxmlformats.org/drawingml/2006/main">
            <a:off x="5981700" y="4152900"/>
            <a:ext cx="5276850" cy="0"/>
          </a:xfrm>
          <a:prstGeom xmlns:a="http://schemas.openxmlformats.org/drawingml/2006/main" prst="line">
            <a:avLst/>
          </a:prstGeom>
          <a:noFill xmlns:a="http://schemas.openxmlformats.org/drawingml/2006/main"/>
          <a:ln xmlns:a="http://schemas.openxmlformats.org/drawingml/2006/main" w="9525">
            <a:solidFill>
              <a:srgbClr val="F7EBE8">
                <a:alpha val="18000"/>
              </a:srgbClr>
            </a:solidFill>
            <a:prstDash val="solid"/>
          </a:ln>
        </p:spPr>
      </p:sp>
      <p:sp>
        <p:nvSpPr>
          <p:cNvPr id="12" name="ACOS result">
            <a:extLst xmlns:a="http://schemas.openxmlformats.org/drawingml/2006/main">
              <a:ext uri="{FF2B5EF4-FFF2-40B4-BE49-F238E27FC236}">
                <a16:creationId xmlns:a16="http://schemas.microsoft.com/office/drawing/2014/main" id="{544E3F29-DB8D-4678-B06F-CE2F6B454C6E}"/>
              </a:ext>
            </a:extLst>
          </p:cNvPr>
          <p:cNvSpPr>
            <a:spLocks xmlns:a="http://schemas.openxmlformats.org/drawingml/2006/main" noGrp="1"/>
          </p:cNvSpPr>
          <p:nvPr/>
        </p:nvSpPr>
        <p:spPr>
          <a:xfrm xmlns:a="http://schemas.openxmlformats.org/drawingml/2006/main">
            <a:off x="5981700" y="4400550"/>
            <a:ext cx="2952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300" b="1">
                <a:solidFill>
                  <a:srgbClr val="F7EBE8"/>
                </a:solidFill>
                <a:latin typeface="Helvetica Neue"/>
                <a:ea typeface="Helvetica Neue"/>
                <a:cs typeface="Helvetica Neue"/>
              </a:defRPr>
            </a:pPr>
            <a:r>
              <a:rPr sz="3300" b="1">
                <a:solidFill>
                  <a:srgbClr val="F7EBE8"/>
                </a:solidFill>
                <a:latin typeface="Helvetica Neue"/>
                <a:ea typeface="Helvetica Neue"/>
                <a:cs typeface="Helvetica Neue"/>
              </a:rPr>
              <a:t>42% → &lt;13%</a:t>
            </a:r>
          </a:p>
        </p:txBody>
      </p:sp>
      <p:sp>
        <p:nvSpPr>
          <p:cNvPr id="13" name="ACOS label">
            <a:extLst xmlns:a="http://schemas.openxmlformats.org/drawingml/2006/main">
              <a:ext uri="{FF2B5EF4-FFF2-40B4-BE49-F238E27FC236}">
                <a16:creationId xmlns:a16="http://schemas.microsoft.com/office/drawing/2014/main" id="{7CDCFB79-164E-4A28-80BF-2A84B39C2D1C}"/>
              </a:ext>
            </a:extLst>
          </p:cNvPr>
          <p:cNvSpPr>
            <a:spLocks xmlns:a="http://schemas.openxmlformats.org/drawingml/2006/main" noGrp="1"/>
          </p:cNvSpPr>
          <p:nvPr/>
        </p:nvSpPr>
        <p:spPr>
          <a:xfrm xmlns:a="http://schemas.openxmlformats.org/drawingml/2006/main">
            <a:off x="6000750" y="505777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D3C8C5"/>
                </a:solidFill>
                <a:latin typeface="Helvetica Neue"/>
                <a:ea typeface="Helvetica Neue"/>
                <a:cs typeface="Helvetica Neue"/>
              </a:defRPr>
            </a:pPr>
            <a:r>
              <a:rPr sz="1650" b="0">
                <a:solidFill>
                  <a:srgbClr val="D3C8C5"/>
                </a:solidFill>
                <a:latin typeface="Helvetica Neue"/>
                <a:ea typeface="Helvetica Neue"/>
                <a:cs typeface="Helvetica Neue"/>
              </a:rPr>
              <a:t>Amazon ACOS</a:t>
            </a:r>
          </a:p>
        </p:txBody>
      </p:sp>
      <p:sp>
        <p:nvSpPr>
          <p:cNvPr id="14" name="CTR result">
            <a:extLst xmlns:a="http://schemas.openxmlformats.org/drawingml/2006/main">
              <a:ext uri="{FF2B5EF4-FFF2-40B4-BE49-F238E27FC236}">
                <a16:creationId xmlns:a16="http://schemas.microsoft.com/office/drawing/2014/main" id="{DE12B833-1F87-4F59-B642-FAE5EA0B425D}"/>
              </a:ext>
            </a:extLst>
          </p:cNvPr>
          <p:cNvSpPr>
            <a:spLocks xmlns:a="http://schemas.openxmlformats.org/drawingml/2006/main" noGrp="1"/>
          </p:cNvSpPr>
          <p:nvPr/>
        </p:nvSpPr>
        <p:spPr>
          <a:xfrm xmlns:a="http://schemas.openxmlformats.org/drawingml/2006/main">
            <a:off x="9267825" y="4400550"/>
            <a:ext cx="21431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225" b="1">
                <a:solidFill>
                  <a:srgbClr val="F7EBE8"/>
                </a:solidFill>
                <a:latin typeface="Helvetica Neue"/>
                <a:ea typeface="Helvetica Neue"/>
                <a:cs typeface="Helvetica Neue"/>
              </a:defRPr>
            </a:pPr>
            <a:r>
              <a:rPr sz="3225" b="1">
                <a:solidFill>
                  <a:srgbClr val="F7EBE8"/>
                </a:solidFill>
                <a:latin typeface="Helvetica Neue"/>
                <a:ea typeface="Helvetica Neue"/>
                <a:cs typeface="Helvetica Neue"/>
              </a:rPr>
              <a:t>18–25%</a:t>
            </a:r>
          </a:p>
        </p:txBody>
      </p:sp>
      <p:sp>
        <p:nvSpPr>
          <p:cNvPr id="15" name="CTR label">
            <a:extLst xmlns:a="http://schemas.openxmlformats.org/drawingml/2006/main">
              <a:ext uri="{FF2B5EF4-FFF2-40B4-BE49-F238E27FC236}">
                <a16:creationId xmlns:a16="http://schemas.microsoft.com/office/drawing/2014/main" id="{737FAE16-1B2F-4C18-AB8F-A3ACF53D0E37}"/>
              </a:ext>
            </a:extLst>
          </p:cNvPr>
          <p:cNvSpPr>
            <a:spLocks xmlns:a="http://schemas.openxmlformats.org/drawingml/2006/main" noGrp="1"/>
          </p:cNvSpPr>
          <p:nvPr/>
        </p:nvSpPr>
        <p:spPr>
          <a:xfrm xmlns:a="http://schemas.openxmlformats.org/drawingml/2006/main">
            <a:off x="9286875" y="5057775"/>
            <a:ext cx="2057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D3C8C5"/>
                </a:solidFill>
                <a:latin typeface="Helvetica Neue"/>
                <a:ea typeface="Helvetica Neue"/>
                <a:cs typeface="Helvetica Neue"/>
              </a:defRPr>
            </a:pPr>
            <a:r>
              <a:rPr sz="1650" b="0">
                <a:solidFill>
                  <a:srgbClr val="D3C8C5"/>
                </a:solidFill>
                <a:latin typeface="Helvetica Neue"/>
                <a:ea typeface="Helvetica Neue"/>
                <a:cs typeface="Helvetica Neue"/>
              </a:rPr>
              <a:t>CTR increase</a:t>
            </a:r>
          </a:p>
        </p:txBody>
      </p:sp>
      <p:sp>
        <p:nvSpPr>
          <p:cNvPr id="16" name="Closing">
            <a:extLst xmlns:a="http://schemas.openxmlformats.org/drawingml/2006/main">
              <a:ext uri="{FF2B5EF4-FFF2-40B4-BE49-F238E27FC236}">
                <a16:creationId xmlns:a16="http://schemas.microsoft.com/office/drawing/2014/main" id="{0C28A08C-CC6B-4A0D-ACF1-2E5219AFE83D}"/>
              </a:ext>
            </a:extLst>
          </p:cNvPr>
          <p:cNvSpPr>
            <a:spLocks xmlns:a="http://schemas.openxmlformats.org/drawingml/2006/main" noGrp="1"/>
          </p:cNvSpPr>
          <p:nvPr/>
        </p:nvSpPr>
        <p:spPr>
          <a:xfrm xmlns:a="http://schemas.openxmlformats.org/drawingml/2006/main">
            <a:off x="609600" y="6019800"/>
            <a:ext cx="10287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0">
                <a:solidFill>
                  <a:srgbClr val="FFA987"/>
                </a:solidFill>
                <a:latin typeface="Helvetica Neue"/>
                <a:ea typeface="Helvetica Neue"/>
                <a:cs typeface="Helvetica Neue"/>
              </a:defRPr>
            </a:pPr>
            <a:r>
              <a:rPr sz="2025" b="0">
                <a:solidFill>
                  <a:srgbClr val="FFA987"/>
                </a:solidFill>
                <a:latin typeface="Helvetica Neue"/>
                <a:ea typeface="Helvetica Neue"/>
                <a:cs typeface="Helvetica Neue"/>
              </a:rPr>
              <a:t>I want to make the call and be accountable for the outcome.</a:t>
            </a:r>
          </a:p>
        </p:txBody>
      </p:sp>
    </p:spTree>
    <p:extLst>
      <p:ext uri="{BB962C8B-B14F-4D97-AF65-F5344CB8AC3E}">
        <p14:creationId xmlns:p14="http://schemas.microsoft.com/office/powerpoint/2010/main" val="918236734"/>
      </p:ext>
    </p:extLst>
  </p:cSld>
</p:sld>
</file>

<file path=ppt/slides/slide3.xml><?xml version="1.0" encoding="utf-8"?>
<p:sld xmlns:p="http://schemas.openxmlformats.org/presentationml/2006/main">
  <p:cSld>
    <p:bg>
      <p:bgPr>
        <a:gradFill xmlns:a="http://schemas.openxmlformats.org/drawingml/2006/main">
          <a:gsLst>
            <a:gs pos="0">
              <a:srgbClr val="1E1E24"/>
            </a:gs>
            <a:gs pos="43000">
              <a:srgbClr val="252429"/>
            </a:gs>
            <a:gs pos="77000">
              <a:srgbClr val="444140"/>
            </a:gs>
            <a:gs pos="100000">
              <a:srgbClr val="82574D"/>
            </a:gs>
          </a:gsLst>
          <a:lin ang="1680000"/>
        </a:gradFill>
      </p:bgPr>
    </p:bg>
    <p:spTree>
      <p:nvGrpSpPr>
        <p:cNvPr id="1" name=""/>
        <p:cNvGrpSpPr/>
        <p:nvPr/>
      </p:nvGrpSpPr>
      <p:grpSpPr>
        <a:xfrm xmlns:a="http://schemas.openxmlformats.org/drawingml/2006/main"/>
      </p:grpSpPr>
      <p:sp>
        <p:nvSpPr>
          <p:cNvPr id="15" name="Question">
            <a:extLst xmlns:a="http://schemas.openxmlformats.org/drawingml/2006/main">
              <a:ext uri="{FF2B5EF4-FFF2-40B4-BE49-F238E27FC236}">
                <a16:creationId xmlns:a16="http://schemas.microsoft.com/office/drawing/2014/main" id="{581577AF-239A-45A2-A5F6-3AE4F4F16A22}"/>
              </a:ext>
            </a:extLst>
          </p:cNvPr>
          <p:cNvSpPr>
            <a:spLocks xmlns:a="http://schemas.openxmlformats.org/drawingml/2006/main" noGrp="1"/>
          </p:cNvSpPr>
          <p:nvPr/>
        </p:nvSpPr>
        <p:spPr>
          <a:xfrm xmlns:a="http://schemas.openxmlformats.org/drawingml/2006/main">
            <a:off x="609600" y="40957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1">
                <a:solidFill>
                  <a:srgbClr val="FFA987"/>
                </a:solidFill>
                <a:latin typeface="Helvetica Neue"/>
                <a:ea typeface="Helvetica Neue"/>
                <a:cs typeface="Helvetica Neue"/>
              </a:defRPr>
            </a:pPr>
            <a:r>
              <a:rPr sz="1275" b="1">
                <a:solidFill>
                  <a:srgbClr val="FFA987"/>
                </a:solidFill>
                <a:latin typeface="Helvetica Neue"/>
                <a:ea typeface="Helvetica Neue"/>
                <a:cs typeface="Helvetica Neue"/>
              </a:rPr>
              <a:t>QUESTION 2</a:t>
            </a:r>
          </a:p>
        </p:txBody>
      </p:sp>
      <p:sp>
        <p:nvSpPr>
          <p:cNvPr id="2" name="Title">
            <a:extLst xmlns:a="http://schemas.openxmlformats.org/drawingml/2006/main">
              <a:ext uri="{FF2B5EF4-FFF2-40B4-BE49-F238E27FC236}">
                <a16:creationId xmlns:a16="http://schemas.microsoft.com/office/drawing/2014/main" id="{4D092999-1E75-40A9-89CF-3F8273D1E1F4}"/>
              </a:ext>
            </a:extLst>
          </p:cNvPr>
          <p:cNvSpPr>
            <a:spLocks xmlns:a="http://schemas.openxmlformats.org/drawingml/2006/main" noGrp="1"/>
          </p:cNvSpPr>
          <p:nvPr/>
        </p:nvSpPr>
        <p:spPr>
          <a:xfrm xmlns:a="http://schemas.openxmlformats.org/drawingml/2006/main">
            <a:off x="609600" y="80010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450" b="1">
                <a:solidFill>
                  <a:srgbClr val="F7EBE8"/>
                </a:solidFill>
                <a:latin typeface="Helvetica Neue"/>
                <a:ea typeface="Helvetica Neue"/>
                <a:cs typeface="Helvetica Neue"/>
              </a:defRPr>
            </a:pPr>
            <a:r>
              <a:rPr sz="3450" b="1">
                <a:solidFill>
                  <a:srgbClr val="F7EBE8"/>
                </a:solidFill>
                <a:latin typeface="Helvetica Neue"/>
                <a:ea typeface="Helvetica Neue"/>
                <a:cs typeface="Helvetica Neue"/>
              </a:rPr>
              <a:t>Media trends worth watching</a:t>
            </a:r>
          </a:p>
        </p:txBody>
      </p:sp>
      <p:sp>
        <p:nvSpPr>
          <p:cNvPr id="3" name="Page">
            <a:extLst xmlns:a="http://schemas.openxmlformats.org/drawingml/2006/main">
              <a:ext uri="{FF2B5EF4-FFF2-40B4-BE49-F238E27FC236}">
                <a16:creationId xmlns:a16="http://schemas.microsoft.com/office/drawing/2014/main" id="{F0B59360-AC8B-4E96-A308-1735E4FE7710}"/>
              </a:ext>
            </a:extLst>
          </p:cNvPr>
          <p:cNvSpPr>
            <a:spLocks xmlns:a="http://schemas.openxmlformats.org/drawingml/2006/main" noGrp="1"/>
          </p:cNvSpPr>
          <p:nvPr/>
        </p:nvSpPr>
        <p:spPr>
          <a:xfrm xmlns:a="http://schemas.openxmlformats.org/drawingml/2006/main">
            <a:off x="11144250" y="64008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D3C8C5"/>
                </a:solidFill>
                <a:latin typeface="Helvetica Neue"/>
                <a:ea typeface="Helvetica Neue"/>
                <a:cs typeface="Helvetica Neue"/>
              </a:defRPr>
            </a:pPr>
            <a:r>
              <a:rPr sz="1125" b="0">
                <a:solidFill>
                  <a:srgbClr val="D3C8C5"/>
                </a:solidFill>
                <a:latin typeface="Helvetica Neue"/>
                <a:ea typeface="Helvetica Neue"/>
                <a:cs typeface="Helvetica Neue"/>
              </a:rPr>
              <a:t>03</a:t>
            </a:r>
          </a:p>
        </p:txBody>
      </p:sp>
      <p:sp>
        <p:nvSpPr>
          <p:cNvPr id="4" name="Trend 1">
            <a:extLst xmlns:a="http://schemas.openxmlformats.org/drawingml/2006/main">
              <a:ext uri="{FF2B5EF4-FFF2-40B4-BE49-F238E27FC236}">
                <a16:creationId xmlns:a16="http://schemas.microsoft.com/office/drawing/2014/main" id="{A0753EA3-1645-4F7B-83F2-498A89B64394}"/>
              </a:ext>
            </a:extLst>
          </p:cNvPr>
          <p:cNvSpPr>
            <a:spLocks xmlns:a="http://schemas.openxmlformats.org/drawingml/2006/main" noGrp="1"/>
          </p:cNvSpPr>
          <p:nvPr/>
        </p:nvSpPr>
        <p:spPr>
          <a:xfrm xmlns:a="http://schemas.openxmlformats.org/drawingml/2006/main">
            <a:off x="609600" y="1943100"/>
            <a:ext cx="48291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1">
                <a:solidFill>
                  <a:srgbClr val="F7EBE8"/>
                </a:solidFill>
                <a:latin typeface="Helvetica Neue"/>
                <a:ea typeface="Helvetica Neue"/>
                <a:cs typeface="Helvetica Neue"/>
              </a:defRPr>
            </a:pPr>
            <a:r>
              <a:rPr sz="2025" b="1">
                <a:solidFill>
                  <a:srgbClr val="F7EBE8"/>
                </a:solidFill>
                <a:latin typeface="Helvetica Neue"/>
                <a:ea typeface="Helvetica Neue"/>
                <a:cs typeface="Helvetica Neue"/>
              </a:rPr>
              <a:t>Retail media &amp; first-party data</a:t>
            </a:r>
          </a:p>
        </p:txBody>
      </p:sp>
      <p:sp>
        <p:nvSpPr>
          <p:cNvPr id="5" name="Trend detail 1">
            <a:extLst xmlns:a="http://schemas.openxmlformats.org/drawingml/2006/main">
              <a:ext uri="{FF2B5EF4-FFF2-40B4-BE49-F238E27FC236}">
                <a16:creationId xmlns:a16="http://schemas.microsoft.com/office/drawing/2014/main" id="{F64A36B7-C611-4FDC-B56D-F2D7721E28E1}"/>
              </a:ext>
            </a:extLst>
          </p:cNvPr>
          <p:cNvSpPr>
            <a:spLocks xmlns:a="http://schemas.openxmlformats.org/drawingml/2006/main" noGrp="1"/>
          </p:cNvSpPr>
          <p:nvPr/>
        </p:nvSpPr>
        <p:spPr>
          <a:xfrm xmlns:a="http://schemas.openxmlformats.org/drawingml/2006/main">
            <a:off x="609600" y="2400300"/>
            <a:ext cx="4791075"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D3C8C5"/>
                </a:solidFill>
                <a:latin typeface="Helvetica Neue"/>
                <a:ea typeface="Helvetica Neue"/>
                <a:cs typeface="Helvetica Neue"/>
              </a:defRPr>
            </a:pPr>
            <a:r>
              <a:rPr sz="1800" b="0">
                <a:solidFill>
                  <a:srgbClr val="D3C8C5"/>
                </a:solidFill>
                <a:latin typeface="Helvetica Neue"/>
                <a:ea typeface="Helvetica Neue"/>
                <a:cs typeface="Helvetica Neue"/>
              </a:rPr>
              <a:t>Retail networks connect media buying with first-party purchase-intent data.</a:t>
            </a:r>
          </a:p>
        </p:txBody>
      </p:sp>
      <p:sp>
        <p:nvSpPr>
          <p:cNvPr id="6" name="Trend 2">
            <a:extLst xmlns:a="http://schemas.openxmlformats.org/drawingml/2006/main">
              <a:ext uri="{FF2B5EF4-FFF2-40B4-BE49-F238E27FC236}">
                <a16:creationId xmlns:a16="http://schemas.microsoft.com/office/drawing/2014/main" id="{32323645-0108-49DB-9BC9-7A23655ADFCF}"/>
              </a:ext>
            </a:extLst>
          </p:cNvPr>
          <p:cNvSpPr>
            <a:spLocks xmlns:a="http://schemas.openxmlformats.org/drawingml/2006/main" noGrp="1"/>
          </p:cNvSpPr>
          <p:nvPr/>
        </p:nvSpPr>
        <p:spPr>
          <a:xfrm xmlns:a="http://schemas.openxmlformats.org/drawingml/2006/main">
            <a:off x="609600" y="3352800"/>
            <a:ext cx="48291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1">
                <a:solidFill>
                  <a:srgbClr val="F7EBE8"/>
                </a:solidFill>
                <a:latin typeface="Helvetica Neue"/>
                <a:ea typeface="Helvetica Neue"/>
                <a:cs typeface="Helvetica Neue"/>
              </a:defRPr>
            </a:pPr>
            <a:r>
              <a:rPr sz="2025" b="1">
                <a:solidFill>
                  <a:srgbClr val="F7EBE8"/>
                </a:solidFill>
                <a:latin typeface="Helvetica Neue"/>
                <a:ea typeface="Helvetica Neue"/>
                <a:cs typeface="Helvetica Neue"/>
              </a:rPr>
              <a:t>Attention over impressions</a:t>
            </a:r>
          </a:p>
        </p:txBody>
      </p:sp>
      <p:sp>
        <p:nvSpPr>
          <p:cNvPr id="7" name="Trend detail 2">
            <a:extLst xmlns:a="http://schemas.openxmlformats.org/drawingml/2006/main">
              <a:ext uri="{FF2B5EF4-FFF2-40B4-BE49-F238E27FC236}">
                <a16:creationId xmlns:a16="http://schemas.microsoft.com/office/drawing/2014/main" id="{496984D4-FD55-49FA-AB8A-57E25539F1E6}"/>
              </a:ext>
            </a:extLst>
          </p:cNvPr>
          <p:cNvSpPr>
            <a:spLocks xmlns:a="http://schemas.openxmlformats.org/drawingml/2006/main" noGrp="1"/>
          </p:cNvSpPr>
          <p:nvPr/>
        </p:nvSpPr>
        <p:spPr>
          <a:xfrm xmlns:a="http://schemas.openxmlformats.org/drawingml/2006/main">
            <a:off x="609600" y="3810000"/>
            <a:ext cx="4791075"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D3C8C5"/>
                </a:solidFill>
                <a:latin typeface="Helvetica Neue"/>
                <a:ea typeface="Helvetica Neue"/>
                <a:cs typeface="Helvetica Neue"/>
              </a:defRPr>
            </a:pPr>
            <a:r>
              <a:rPr sz="1800" b="0">
                <a:solidFill>
                  <a:srgbClr val="D3C8C5"/>
                </a:solidFill>
                <a:latin typeface="Helvetica Neue"/>
                <a:ea typeface="Helvetica Neue"/>
                <a:cs typeface="Helvetica Neue"/>
              </a:rPr>
              <a:t>CTV and social metrics go beyond reach and clicks to assess attention and outcomes.</a:t>
            </a:r>
          </a:p>
        </p:txBody>
      </p:sp>
      <p:sp>
        <p:nvSpPr>
          <p:cNvPr id="8" name="Trend 3">
            <a:extLst xmlns:a="http://schemas.openxmlformats.org/drawingml/2006/main">
              <a:ext uri="{FF2B5EF4-FFF2-40B4-BE49-F238E27FC236}">
                <a16:creationId xmlns:a16="http://schemas.microsoft.com/office/drawing/2014/main" id="{B79E4A5D-9D9E-4825-AC6B-CB1C294F7E87}"/>
              </a:ext>
            </a:extLst>
          </p:cNvPr>
          <p:cNvSpPr>
            <a:spLocks xmlns:a="http://schemas.openxmlformats.org/drawingml/2006/main" noGrp="1"/>
          </p:cNvSpPr>
          <p:nvPr/>
        </p:nvSpPr>
        <p:spPr>
          <a:xfrm xmlns:a="http://schemas.openxmlformats.org/drawingml/2006/main">
            <a:off x="609600" y="4762500"/>
            <a:ext cx="48291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1">
                <a:solidFill>
                  <a:srgbClr val="F7EBE8"/>
                </a:solidFill>
                <a:latin typeface="Helvetica Neue"/>
                <a:ea typeface="Helvetica Neue"/>
                <a:cs typeface="Helvetica Neue"/>
              </a:defRPr>
            </a:pPr>
            <a:r>
              <a:rPr sz="2025" b="1">
                <a:solidFill>
                  <a:srgbClr val="F7EBE8"/>
                </a:solidFill>
                <a:latin typeface="Helvetica Neue"/>
                <a:ea typeface="Helvetica Neue"/>
                <a:cs typeface="Helvetica Neue"/>
              </a:rPr>
              <a:t>AI-assisted buying</a:t>
            </a:r>
          </a:p>
        </p:txBody>
      </p:sp>
      <p:sp>
        <p:nvSpPr>
          <p:cNvPr id="9" name="Trend detail 3">
            <a:extLst xmlns:a="http://schemas.openxmlformats.org/drawingml/2006/main">
              <a:ext uri="{FF2B5EF4-FFF2-40B4-BE49-F238E27FC236}">
                <a16:creationId xmlns:a16="http://schemas.microsoft.com/office/drawing/2014/main" id="{A077CE89-5070-49C0-85AE-666F49AA6F8B}"/>
              </a:ext>
            </a:extLst>
          </p:cNvPr>
          <p:cNvSpPr>
            <a:spLocks xmlns:a="http://schemas.openxmlformats.org/drawingml/2006/main" noGrp="1"/>
          </p:cNvSpPr>
          <p:nvPr/>
        </p:nvSpPr>
        <p:spPr>
          <a:xfrm xmlns:a="http://schemas.openxmlformats.org/drawingml/2006/main">
            <a:off x="609600" y="5219700"/>
            <a:ext cx="4791075"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D3C8C5"/>
                </a:solidFill>
                <a:latin typeface="Helvetica Neue"/>
                <a:ea typeface="Helvetica Neue"/>
                <a:cs typeface="Helvetica Neue"/>
              </a:defRPr>
            </a:pPr>
            <a:r>
              <a:rPr sz="1800" b="0">
                <a:solidFill>
                  <a:srgbClr val="D3C8C5"/>
                </a:solidFill>
                <a:latin typeface="Helvetica Neue"/>
                <a:ea typeface="Helvetica Neue"/>
                <a:cs typeface="Helvetica Neue"/>
              </a:rPr>
              <a:t>Automated bidding and predictive optimisation make human judgement even more valuable.</a:t>
            </a:r>
          </a:p>
        </p:txBody>
      </p:sp>
      <p:sp>
        <p:nvSpPr>
          <p:cNvPr id="10" name="AI perspective glass">
            <a:extLst xmlns:a="http://schemas.openxmlformats.org/drawingml/2006/main">
              <a:ext uri="{FF2B5EF4-FFF2-40B4-BE49-F238E27FC236}">
                <a16:creationId xmlns:a16="http://schemas.microsoft.com/office/drawing/2014/main" id="{0324154F-86EA-48F9-915C-3EB76840FFF7}"/>
              </a:ext>
            </a:extLst>
          </p:cNvPr>
          <p:cNvSpPr>
            <a:spLocks xmlns:a="http://schemas.openxmlformats.org/drawingml/2006/main" noGrp="1"/>
          </p:cNvSpPr>
          <p:nvPr/>
        </p:nvSpPr>
        <p:spPr>
          <a:xfrm xmlns:a="http://schemas.openxmlformats.org/drawingml/2006/main">
            <a:off x="5829300" y="1885950"/>
            <a:ext cx="5753100" cy="4229100"/>
          </a:xfrm>
          <a:prstGeom xmlns:a="http://schemas.openxmlformats.org/drawingml/2006/main" prst="roundRect">
            <a:avLst>
              <a:gd name="adj" fmla="val 5405"/>
            </a:avLst>
          </a:prstGeom>
          <a:gradFill xmlns:a="http://schemas.openxmlformats.org/drawingml/2006/main">
            <a:gsLst>
              <a:gs pos="0">
                <a:srgbClr val="F7EBE8">
                  <a:alpha val="14000"/>
                </a:srgbClr>
              </a:gs>
              <a:gs pos="52000">
                <a:srgbClr val="F7EBE8">
                  <a:alpha val="5000"/>
                </a:srgbClr>
              </a:gs>
              <a:gs pos="100000">
                <a:srgbClr val="F7EBE8">
                  <a:alpha val="9000"/>
                </a:srgbClr>
              </a:gs>
            </a:gsLst>
            <a:lin ang="7500000"/>
          </a:gradFill>
          <a:ln xmlns:a="http://schemas.openxmlformats.org/drawingml/2006/main" w="9525">
            <a:solidFill>
              <a:srgbClr val="F7EBE8">
                <a:alpha val="24000"/>
              </a:srgbClr>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1" name="AI heading">
            <a:extLst xmlns:a="http://schemas.openxmlformats.org/drawingml/2006/main">
              <a:ext uri="{FF2B5EF4-FFF2-40B4-BE49-F238E27FC236}">
                <a16:creationId xmlns:a16="http://schemas.microsoft.com/office/drawing/2014/main" id="{D39D6182-AE2C-4BC7-BA2B-3712DB4BEF1E}"/>
              </a:ext>
            </a:extLst>
          </p:cNvPr>
          <p:cNvSpPr>
            <a:spLocks xmlns:a="http://schemas.openxmlformats.org/drawingml/2006/main" noGrp="1"/>
          </p:cNvSpPr>
          <p:nvPr/>
        </p:nvSpPr>
        <p:spPr>
          <a:xfrm xmlns:a="http://schemas.openxmlformats.org/drawingml/2006/main">
            <a:off x="6153150" y="2171700"/>
            <a:ext cx="5124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550" b="1">
                <a:solidFill>
                  <a:srgbClr val="FFA987"/>
                </a:solidFill>
                <a:latin typeface="Helvetica Neue"/>
                <a:ea typeface="Helvetica Neue"/>
                <a:cs typeface="Helvetica Neue"/>
              </a:defRPr>
            </a:pPr>
            <a:r>
              <a:rPr sz="2550" b="1">
                <a:solidFill>
                  <a:srgbClr val="FFA987"/>
                </a:solidFill>
                <a:latin typeface="Helvetica Neue"/>
                <a:ea typeface="Helvetica Neue"/>
                <a:cs typeface="Helvetica Neue"/>
              </a:rPr>
              <a:t>AI-generated creative</a:t>
            </a:r>
          </a:p>
        </p:txBody>
      </p:sp>
      <p:sp>
        <p:nvSpPr>
          <p:cNvPr id="12" name="AI framing">
            <a:extLst xmlns:a="http://schemas.openxmlformats.org/drawingml/2006/main">
              <a:ext uri="{FF2B5EF4-FFF2-40B4-BE49-F238E27FC236}">
                <a16:creationId xmlns:a16="http://schemas.microsoft.com/office/drawing/2014/main" id="{71AB5061-B540-43E7-A59B-5CB28D535C3D}"/>
              </a:ext>
            </a:extLst>
          </p:cNvPr>
          <p:cNvSpPr>
            <a:spLocks xmlns:a="http://schemas.openxmlformats.org/drawingml/2006/main" noGrp="1"/>
          </p:cNvSpPr>
          <p:nvPr/>
        </p:nvSpPr>
        <p:spPr>
          <a:xfrm xmlns:a="http://schemas.openxmlformats.org/drawingml/2006/main">
            <a:off x="6153150" y="2790825"/>
            <a:ext cx="5038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2025" b="1">
                <a:solidFill>
                  <a:srgbClr val="F7EBE8"/>
                </a:solidFill>
                <a:latin typeface="Helvetica Neue"/>
                <a:ea typeface="Helvetica Neue"/>
                <a:cs typeface="Helvetica Neue"/>
              </a:defRPr>
            </a:pPr>
            <a:r>
              <a:rPr sz="2025" b="1">
                <a:solidFill>
                  <a:srgbClr val="F7EBE8"/>
                </a:solidFill>
                <a:latin typeface="Helvetica Neue"/>
                <a:ea typeface="Helvetica Neue"/>
                <a:cs typeface="Helvetica Neue"/>
              </a:rPr>
              <a:t>Judge the work on its performance.</a:t>
            </a:r>
          </a:p>
        </p:txBody>
      </p:sp>
      <p:sp>
        <p:nvSpPr>
          <p:cNvPr id="13" name="AI point 1">
            <a:extLst xmlns:a="http://schemas.openxmlformats.org/drawingml/2006/main">
              <a:ext uri="{FF2B5EF4-FFF2-40B4-BE49-F238E27FC236}">
                <a16:creationId xmlns:a16="http://schemas.microsoft.com/office/drawing/2014/main" id="{89860B12-D9EC-476A-BD78-327FC2C8D4CD}"/>
              </a:ext>
            </a:extLst>
          </p:cNvPr>
          <p:cNvSpPr>
            <a:spLocks xmlns:a="http://schemas.openxmlformats.org/drawingml/2006/main" noGrp="1"/>
          </p:cNvSpPr>
          <p:nvPr/>
        </p:nvSpPr>
        <p:spPr>
          <a:xfrm xmlns:a="http://schemas.openxmlformats.org/drawingml/2006/main">
            <a:off x="6153150" y="3581400"/>
            <a:ext cx="49625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F7EBE8"/>
                </a:solidFill>
                <a:latin typeface="Helvetica Neue"/>
                <a:ea typeface="Helvetica Neue"/>
                <a:cs typeface="Helvetica Neue"/>
              </a:defRPr>
            </a:pPr>
            <a:r>
              <a:rPr sz="1800" b="0">
                <a:solidFill>
                  <a:srgbClr val="F7EBE8"/>
                </a:solidFill>
                <a:latin typeface="Helvetica Neue"/>
                <a:ea typeface="Helvetica Neue"/>
                <a:cs typeface="Helvetica Neue"/>
              </a:rPr>
              <a:t>As quality improves, the AI label alone should not decide whether creative is effective.</a:t>
            </a:r>
          </a:p>
        </p:txBody>
      </p:sp>
      <p:sp>
        <p:nvSpPr>
          <p:cNvPr id="14" name="AI point 2">
            <a:extLst xmlns:a="http://schemas.openxmlformats.org/drawingml/2006/main">
              <a:ext uri="{FF2B5EF4-FFF2-40B4-BE49-F238E27FC236}">
                <a16:creationId xmlns:a16="http://schemas.microsoft.com/office/drawing/2014/main" id="{DEF2C550-6D71-461C-AED5-A5F7CD532C1A}"/>
              </a:ext>
            </a:extLst>
          </p:cNvPr>
          <p:cNvSpPr>
            <a:spLocks xmlns:a="http://schemas.openxmlformats.org/drawingml/2006/main" noGrp="1"/>
          </p:cNvSpPr>
          <p:nvPr/>
        </p:nvSpPr>
        <p:spPr>
          <a:xfrm xmlns:a="http://schemas.openxmlformats.org/drawingml/2006/main">
            <a:off x="6153150" y="4638675"/>
            <a:ext cx="49625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D3C8C5"/>
                </a:solidFill>
                <a:latin typeface="Helvetica Neue"/>
                <a:ea typeface="Helvetica Neue"/>
                <a:cs typeface="Helvetica Neue"/>
              </a:defRPr>
            </a:pPr>
            <a:r>
              <a:rPr sz="1800" b="0">
                <a:solidFill>
                  <a:srgbClr val="D3C8C5"/>
                </a:solidFill>
                <a:latin typeface="Helvetica Neue"/>
                <a:ea typeface="Helvetica Neue"/>
                <a:cs typeface="Helvetica Neue"/>
              </a:rPr>
              <a:t>Evaluate CTR, conversion and brand lift. Pair fair testing with disclosure and quality assurance so the work can earn trust.</a:t>
            </a:r>
          </a:p>
        </p:txBody>
      </p:sp>
    </p:spTree>
    <p:extLst>
      <p:ext uri="{BB962C8B-B14F-4D97-AF65-F5344CB8AC3E}">
        <p14:creationId xmlns:p14="http://schemas.microsoft.com/office/powerpoint/2010/main" val="252550517"/>
      </p:ext>
    </p:extLst>
  </p:cSld>
</p:sld>
</file>

<file path=ppt/slides/slide4.xml><?xml version="1.0" encoding="utf-8"?>
<p:sld xmlns:p="http://schemas.openxmlformats.org/presentationml/2006/main">
  <p:cSld>
    <p:bg>
      <p:bgPr>
        <a:gradFill xmlns:a="http://schemas.openxmlformats.org/drawingml/2006/main">
          <a:gsLst>
            <a:gs pos="0">
              <a:srgbClr val="1E1E24"/>
            </a:gs>
            <a:gs pos="43000">
              <a:srgbClr val="252429"/>
            </a:gs>
            <a:gs pos="77000">
              <a:srgbClr val="444140"/>
            </a:gs>
            <a:gs pos="100000">
              <a:srgbClr val="82574D"/>
            </a:gs>
          </a:gsLst>
          <a:lin ang="1680000"/>
        </a:gradFill>
      </p:bgPr>
    </p:bg>
    <p:spTree>
      <p:nvGrpSpPr>
        <p:cNvPr id="1" name=""/>
        <p:cNvGrpSpPr/>
        <p:nvPr/>
      </p:nvGrpSpPr>
      <p:grpSpPr>
        <a:xfrm xmlns:a="http://schemas.openxmlformats.org/drawingml/2006/main"/>
      </p:grpSpPr>
      <p:sp>
        <p:nvSpPr>
          <p:cNvPr id="19" name="Question">
            <a:extLst xmlns:a="http://schemas.openxmlformats.org/drawingml/2006/main">
              <a:ext uri="{FF2B5EF4-FFF2-40B4-BE49-F238E27FC236}">
                <a16:creationId xmlns:a16="http://schemas.microsoft.com/office/drawing/2014/main" id="{546D009E-FC4D-43D0-8406-25B728899D53}"/>
              </a:ext>
            </a:extLst>
          </p:cNvPr>
          <p:cNvSpPr>
            <a:spLocks xmlns:a="http://schemas.openxmlformats.org/drawingml/2006/main" noGrp="1"/>
          </p:cNvSpPr>
          <p:nvPr/>
        </p:nvSpPr>
        <p:spPr>
          <a:xfrm xmlns:a="http://schemas.openxmlformats.org/drawingml/2006/main">
            <a:off x="609600" y="40957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1">
                <a:solidFill>
                  <a:srgbClr val="FFA987"/>
                </a:solidFill>
                <a:latin typeface="Helvetica Neue"/>
                <a:ea typeface="Helvetica Neue"/>
                <a:cs typeface="Helvetica Neue"/>
              </a:defRPr>
            </a:pPr>
            <a:r>
              <a:rPr sz="1275" b="1">
                <a:solidFill>
                  <a:srgbClr val="FFA987"/>
                </a:solidFill>
                <a:latin typeface="Helvetica Neue"/>
                <a:ea typeface="Helvetica Neue"/>
                <a:cs typeface="Helvetica Neue"/>
              </a:rPr>
              <a:t>QUESTION 3</a:t>
            </a:r>
          </a:p>
        </p:txBody>
      </p:sp>
      <p:sp>
        <p:nvSpPr>
          <p:cNvPr id="2" name="Title">
            <a:extLst xmlns:a="http://schemas.openxmlformats.org/drawingml/2006/main">
              <a:ext uri="{FF2B5EF4-FFF2-40B4-BE49-F238E27FC236}">
                <a16:creationId xmlns:a16="http://schemas.microsoft.com/office/drawing/2014/main" id="{0EE533D9-A565-4C3F-8FDA-88A9D7760C7E}"/>
              </a:ext>
            </a:extLst>
          </p:cNvPr>
          <p:cNvSpPr>
            <a:spLocks xmlns:a="http://schemas.openxmlformats.org/drawingml/2006/main" noGrp="1"/>
          </p:cNvSpPr>
          <p:nvPr/>
        </p:nvSpPr>
        <p:spPr>
          <a:xfrm xmlns:a="http://schemas.openxmlformats.org/drawingml/2006/main">
            <a:off x="609600" y="800100"/>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450" b="1">
                <a:solidFill>
                  <a:srgbClr val="F7EBE8"/>
                </a:solidFill>
                <a:latin typeface="Helvetica Neue"/>
                <a:ea typeface="Helvetica Neue"/>
                <a:cs typeface="Helvetica Neue"/>
              </a:defRPr>
            </a:pPr>
            <a:r>
              <a:rPr sz="3450" b="1">
                <a:solidFill>
                  <a:srgbClr val="F7EBE8"/>
                </a:solidFill>
                <a:latin typeface="Helvetica Neue"/>
                <a:ea typeface="Helvetica Neue"/>
                <a:cs typeface="Helvetica Neue"/>
              </a:rPr>
              <a:t>Using data to make a better call</a:t>
            </a:r>
          </a:p>
        </p:txBody>
      </p:sp>
      <p:sp>
        <p:nvSpPr>
          <p:cNvPr id="3" name="Page">
            <a:extLst xmlns:a="http://schemas.openxmlformats.org/drawingml/2006/main">
              <a:ext uri="{FF2B5EF4-FFF2-40B4-BE49-F238E27FC236}">
                <a16:creationId xmlns:a16="http://schemas.microsoft.com/office/drawing/2014/main" id="{6C00EB20-C3AF-4185-9D92-18D6450EA09A}"/>
              </a:ext>
            </a:extLst>
          </p:cNvPr>
          <p:cNvSpPr>
            <a:spLocks xmlns:a="http://schemas.openxmlformats.org/drawingml/2006/main" noGrp="1"/>
          </p:cNvSpPr>
          <p:nvPr/>
        </p:nvSpPr>
        <p:spPr>
          <a:xfrm xmlns:a="http://schemas.openxmlformats.org/drawingml/2006/main">
            <a:off x="11144250" y="6400800"/>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125" b="0">
                <a:solidFill>
                  <a:srgbClr val="D3C8C5"/>
                </a:solidFill>
                <a:latin typeface="Helvetica Neue"/>
                <a:ea typeface="Helvetica Neue"/>
                <a:cs typeface="Helvetica Neue"/>
              </a:defRPr>
            </a:pPr>
            <a:r>
              <a:rPr sz="1125" b="0">
                <a:solidFill>
                  <a:srgbClr val="D3C8C5"/>
                </a:solidFill>
                <a:latin typeface="Helvetica Neue"/>
                <a:ea typeface="Helvetica Neue"/>
                <a:cs typeface="Helvetica Neue"/>
              </a:rPr>
              <a:t>04</a:t>
            </a:r>
          </a:p>
        </p:txBody>
      </p:sp>
      <p:sp>
        <p:nvSpPr>
          <p:cNvPr id="4" name="Results glass">
            <a:extLst xmlns:a="http://schemas.openxmlformats.org/drawingml/2006/main">
              <a:ext uri="{FF2B5EF4-FFF2-40B4-BE49-F238E27FC236}">
                <a16:creationId xmlns:a16="http://schemas.microsoft.com/office/drawing/2014/main" id="{56D09CA3-F637-40AE-B26F-85855699A855}"/>
              </a:ext>
            </a:extLst>
          </p:cNvPr>
          <p:cNvSpPr>
            <a:spLocks xmlns:a="http://schemas.openxmlformats.org/drawingml/2006/main" noGrp="1"/>
          </p:cNvSpPr>
          <p:nvPr/>
        </p:nvSpPr>
        <p:spPr>
          <a:xfrm xmlns:a="http://schemas.openxmlformats.org/drawingml/2006/main">
            <a:off x="7620000" y="1847850"/>
            <a:ext cx="3962400" cy="3943350"/>
          </a:xfrm>
          <a:prstGeom xmlns:a="http://schemas.openxmlformats.org/drawingml/2006/main" prst="roundRect">
            <a:avLst>
              <a:gd name="adj" fmla="val 5797"/>
            </a:avLst>
          </a:prstGeom>
          <a:gradFill xmlns:a="http://schemas.openxmlformats.org/drawingml/2006/main">
            <a:gsLst>
              <a:gs pos="0">
                <a:srgbClr val="F7EBE8">
                  <a:alpha val="14000"/>
                </a:srgbClr>
              </a:gs>
              <a:gs pos="52000">
                <a:srgbClr val="F7EBE8">
                  <a:alpha val="5000"/>
                </a:srgbClr>
              </a:gs>
              <a:gs pos="100000">
                <a:srgbClr val="F7EBE8">
                  <a:alpha val="9000"/>
                </a:srgbClr>
              </a:gs>
            </a:gsLst>
            <a:lin ang="7500000"/>
          </a:gradFill>
          <a:ln xmlns:a="http://schemas.openxmlformats.org/drawingml/2006/main" w="9525">
            <a:solidFill>
              <a:srgbClr val="F7EBE8">
                <a:alpha val="24000"/>
              </a:srgbClr>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5" name="Result label">
            <a:extLst xmlns:a="http://schemas.openxmlformats.org/drawingml/2006/main">
              <a:ext uri="{FF2B5EF4-FFF2-40B4-BE49-F238E27FC236}">
                <a16:creationId xmlns:a16="http://schemas.microsoft.com/office/drawing/2014/main" id="{7FEE6EEC-57EB-4EA4-B945-FBFE4B9CEDCF}"/>
              </a:ext>
            </a:extLst>
          </p:cNvPr>
          <p:cNvSpPr>
            <a:spLocks xmlns:a="http://schemas.openxmlformats.org/drawingml/2006/main" noGrp="1"/>
          </p:cNvSpPr>
          <p:nvPr/>
        </p:nvSpPr>
        <p:spPr>
          <a:xfrm xmlns:a="http://schemas.openxmlformats.org/drawingml/2006/main">
            <a:off x="7924800" y="2105025"/>
            <a:ext cx="3143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1">
                <a:solidFill>
                  <a:srgbClr val="FFA987"/>
                </a:solidFill>
                <a:latin typeface="Helvetica Neue"/>
                <a:ea typeface="Helvetica Neue"/>
                <a:cs typeface="Helvetica Neue"/>
              </a:defRPr>
            </a:pPr>
            <a:r>
              <a:rPr sz="1350" b="1">
                <a:solidFill>
                  <a:srgbClr val="FFA987"/>
                </a:solidFill>
                <a:latin typeface="Helvetica Neue"/>
                <a:ea typeface="Helvetica Neue"/>
                <a:cs typeface="Helvetica Neue"/>
              </a:rPr>
              <a:t>RESULT</a:t>
            </a:r>
          </a:p>
        </p:txBody>
      </p:sp>
      <p:sp>
        <p:nvSpPr>
          <p:cNvPr id="6" name="Efficiency result">
            <a:extLst xmlns:a="http://schemas.openxmlformats.org/drawingml/2006/main">
              <a:ext uri="{FF2B5EF4-FFF2-40B4-BE49-F238E27FC236}">
                <a16:creationId xmlns:a16="http://schemas.microsoft.com/office/drawing/2014/main" id="{31A546A6-6DA2-4896-8DEF-EB1F20891FC5}"/>
              </a:ext>
            </a:extLst>
          </p:cNvPr>
          <p:cNvSpPr>
            <a:spLocks xmlns:a="http://schemas.openxmlformats.org/drawingml/2006/main" noGrp="1"/>
          </p:cNvSpPr>
          <p:nvPr/>
        </p:nvSpPr>
        <p:spPr>
          <a:xfrm xmlns:a="http://schemas.openxmlformats.org/drawingml/2006/main">
            <a:off x="7924800" y="2552700"/>
            <a:ext cx="3381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450" b="1">
                <a:solidFill>
                  <a:srgbClr val="F7EBE8"/>
                </a:solidFill>
                <a:latin typeface="Helvetica Neue"/>
                <a:ea typeface="Helvetica Neue"/>
                <a:cs typeface="Helvetica Neue"/>
              </a:defRPr>
            </a:pPr>
            <a:r>
              <a:rPr sz="3450" b="1">
                <a:solidFill>
                  <a:srgbClr val="F7EBE8"/>
                </a:solidFill>
                <a:latin typeface="Helvetica Neue"/>
                <a:ea typeface="Helvetica Neue"/>
                <a:cs typeface="Helvetica Neue"/>
              </a:rPr>
              <a:t>42% → &lt;13%</a:t>
            </a:r>
          </a:p>
        </p:txBody>
      </p:sp>
      <p:sp>
        <p:nvSpPr>
          <p:cNvPr id="7" name="Efficiency context">
            <a:extLst xmlns:a="http://schemas.openxmlformats.org/drawingml/2006/main">
              <a:ext uri="{FF2B5EF4-FFF2-40B4-BE49-F238E27FC236}">
                <a16:creationId xmlns:a16="http://schemas.microsoft.com/office/drawing/2014/main" id="{80AC9D77-9D6E-4ABA-A13B-ACD8CA89CE17}"/>
              </a:ext>
            </a:extLst>
          </p:cNvPr>
          <p:cNvSpPr>
            <a:spLocks xmlns:a="http://schemas.openxmlformats.org/drawingml/2006/main" noGrp="1"/>
          </p:cNvSpPr>
          <p:nvPr/>
        </p:nvSpPr>
        <p:spPr>
          <a:xfrm xmlns:a="http://schemas.openxmlformats.org/drawingml/2006/main">
            <a:off x="7943850" y="3200400"/>
            <a:ext cx="323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0">
                <a:solidFill>
                  <a:srgbClr val="D3C8C5"/>
                </a:solidFill>
                <a:latin typeface="Helvetica Neue"/>
                <a:ea typeface="Helvetica Neue"/>
                <a:cs typeface="Helvetica Neue"/>
              </a:defRPr>
            </a:pPr>
            <a:r>
              <a:rPr sz="1725" b="0">
                <a:solidFill>
                  <a:srgbClr val="D3C8C5"/>
                </a:solidFill>
                <a:latin typeface="Helvetica Neue"/>
                <a:ea typeface="Helvetica Neue"/>
                <a:cs typeface="Helvetica Neue"/>
              </a:rPr>
              <a:t>Amazon ACOS</a:t>
            </a:r>
          </a:p>
        </p:txBody>
      </p:sp>
      <p:sp>
        <p:nvSpPr>
          <p:cNvPr id="8" name="Glass divider">
            <a:extLst xmlns:a="http://schemas.openxmlformats.org/drawingml/2006/main">
              <a:ext uri="{FF2B5EF4-FFF2-40B4-BE49-F238E27FC236}">
                <a16:creationId xmlns:a16="http://schemas.microsoft.com/office/drawing/2014/main" id="{91C799B8-3F1E-41E7-B8B8-67FB2878E3F6}"/>
              </a:ext>
            </a:extLst>
          </p:cNvPr>
          <p:cNvSpPr>
            <a:spLocks xmlns:a="http://schemas.openxmlformats.org/drawingml/2006/main" noGrp="1"/>
          </p:cNvSpPr>
          <p:nvPr/>
        </p:nvSpPr>
        <p:spPr>
          <a:xfrm xmlns:a="http://schemas.openxmlformats.org/drawingml/2006/main">
            <a:off x="7924800" y="3705225"/>
            <a:ext cx="3333750" cy="0"/>
          </a:xfrm>
          <a:prstGeom xmlns:a="http://schemas.openxmlformats.org/drawingml/2006/main" prst="line">
            <a:avLst/>
          </a:prstGeom>
          <a:noFill xmlns:a="http://schemas.openxmlformats.org/drawingml/2006/main"/>
          <a:ln xmlns:a="http://schemas.openxmlformats.org/drawingml/2006/main" w="9525">
            <a:solidFill>
              <a:srgbClr val="F7EBE8">
                <a:alpha val="18000"/>
              </a:srgbClr>
            </a:solidFill>
            <a:prstDash val="solid"/>
          </a:ln>
        </p:spPr>
      </p:sp>
      <p:sp>
        <p:nvSpPr>
          <p:cNvPr id="9" name="Engagement result">
            <a:extLst xmlns:a="http://schemas.openxmlformats.org/drawingml/2006/main">
              <a:ext uri="{FF2B5EF4-FFF2-40B4-BE49-F238E27FC236}">
                <a16:creationId xmlns:a16="http://schemas.microsoft.com/office/drawing/2014/main" id="{B2B291DA-643C-4361-BF2C-14D667A7D551}"/>
              </a:ext>
            </a:extLst>
          </p:cNvPr>
          <p:cNvSpPr>
            <a:spLocks xmlns:a="http://schemas.openxmlformats.org/drawingml/2006/main" noGrp="1"/>
          </p:cNvSpPr>
          <p:nvPr/>
        </p:nvSpPr>
        <p:spPr>
          <a:xfrm xmlns:a="http://schemas.openxmlformats.org/drawingml/2006/main">
            <a:off x="7924800" y="3981450"/>
            <a:ext cx="3333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3825" b="1">
                <a:solidFill>
                  <a:srgbClr val="FFA987"/>
                </a:solidFill>
                <a:latin typeface="Helvetica Neue"/>
                <a:ea typeface="Helvetica Neue"/>
                <a:cs typeface="Helvetica Neue"/>
              </a:defRPr>
            </a:pPr>
            <a:r>
              <a:rPr sz="3825" b="1">
                <a:solidFill>
                  <a:srgbClr val="FFA987"/>
                </a:solidFill>
                <a:latin typeface="Helvetica Neue"/>
                <a:ea typeface="Helvetica Neue"/>
                <a:cs typeface="Helvetica Neue"/>
              </a:rPr>
              <a:t>18–25%</a:t>
            </a:r>
          </a:p>
        </p:txBody>
      </p:sp>
      <p:sp>
        <p:nvSpPr>
          <p:cNvPr id="10" name="Engagement context">
            <a:extLst xmlns:a="http://schemas.openxmlformats.org/drawingml/2006/main">
              <a:ext uri="{FF2B5EF4-FFF2-40B4-BE49-F238E27FC236}">
                <a16:creationId xmlns:a16="http://schemas.microsoft.com/office/drawing/2014/main" id="{0771D370-209E-4932-BF80-36341D44AE9E}"/>
              </a:ext>
            </a:extLst>
          </p:cNvPr>
          <p:cNvSpPr>
            <a:spLocks xmlns:a="http://schemas.openxmlformats.org/drawingml/2006/main" noGrp="1"/>
          </p:cNvSpPr>
          <p:nvPr/>
        </p:nvSpPr>
        <p:spPr>
          <a:xfrm xmlns:a="http://schemas.openxmlformats.org/drawingml/2006/main">
            <a:off x="7943850" y="4676775"/>
            <a:ext cx="32099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725" b="0">
                <a:solidFill>
                  <a:srgbClr val="D3C8C5"/>
                </a:solidFill>
                <a:latin typeface="Helvetica Neue"/>
                <a:ea typeface="Helvetica Neue"/>
                <a:cs typeface="Helvetica Neue"/>
              </a:defRPr>
            </a:pPr>
            <a:r>
              <a:rPr sz="1725" b="0">
                <a:solidFill>
                  <a:srgbClr val="D3C8C5"/>
                </a:solidFill>
                <a:latin typeface="Helvetica Neue"/>
                <a:ea typeface="Helvetica Neue"/>
                <a:cs typeface="Helvetica Neue"/>
              </a:rPr>
              <a:t>CTR increase</a:t>
            </a:r>
          </a:p>
        </p:txBody>
      </p:sp>
      <p:sp>
        <p:nvSpPr>
          <p:cNvPr id="11" name="Revenue context">
            <a:extLst xmlns:a="http://schemas.openxmlformats.org/drawingml/2006/main">
              <a:ext uri="{FF2B5EF4-FFF2-40B4-BE49-F238E27FC236}">
                <a16:creationId xmlns:a16="http://schemas.microsoft.com/office/drawing/2014/main" id="{36360034-D90A-42C9-B276-D1B74312B037}"/>
              </a:ext>
            </a:extLst>
          </p:cNvPr>
          <p:cNvSpPr>
            <a:spLocks xmlns:a="http://schemas.openxmlformats.org/drawingml/2006/main" noGrp="1"/>
          </p:cNvSpPr>
          <p:nvPr/>
        </p:nvSpPr>
        <p:spPr>
          <a:xfrm xmlns:a="http://schemas.openxmlformats.org/drawingml/2006/main">
            <a:off x="7943850" y="5095875"/>
            <a:ext cx="3257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500" b="0">
                <a:solidFill>
                  <a:srgbClr val="D3C8C5"/>
                </a:solidFill>
                <a:latin typeface="Helvetica Neue"/>
                <a:ea typeface="Helvetica Neue"/>
                <a:cs typeface="Helvetica Neue"/>
              </a:defRPr>
            </a:pPr>
            <a:r>
              <a:rPr sz="1500" b="0">
                <a:solidFill>
                  <a:srgbClr val="D3C8C5"/>
                </a:solidFill>
                <a:latin typeface="Helvetica Neue"/>
                <a:ea typeface="Helvetica Neue"/>
                <a:cs typeface="Helvetica Neue"/>
              </a:rPr>
              <a:t>Brand context: A$3.6M</a:t>
            </a:r>
          </a:p>
          <a:p xmlns:a="http://schemas.openxmlformats.org/drawingml/2006/main">
            <a:pPr algn="l">
              <a:lnSpc>
                <a:spcPct val="115000"/>
              </a:lnSpc>
              <a:buNone/>
              <a:defRPr sz="1500" b="0">
                <a:solidFill>
                  <a:srgbClr val="D3C8C5"/>
                </a:solidFill>
                <a:latin typeface="Helvetica Neue"/>
                <a:ea typeface="Helvetica Neue"/>
                <a:cs typeface="Helvetica Neue"/>
              </a:defRPr>
            </a:pPr>
            <a:r>
              <a:rPr sz="1500" b="0">
                <a:solidFill>
                  <a:srgbClr val="D3C8C5"/>
                </a:solidFill>
                <a:latin typeface="Helvetica Neue"/>
                <a:ea typeface="Helvetica Neue"/>
                <a:cs typeface="Helvetica Neue"/>
              </a:rPr>
              <a:t>combined annual revenue</a:t>
            </a:r>
          </a:p>
        </p:txBody>
      </p:sp>
      <p:sp>
        <p:nvSpPr>
          <p:cNvPr id="12" name="Situation heading">
            <a:extLst xmlns:a="http://schemas.openxmlformats.org/drawingml/2006/main">
              <a:ext uri="{FF2B5EF4-FFF2-40B4-BE49-F238E27FC236}">
                <a16:creationId xmlns:a16="http://schemas.microsoft.com/office/drawing/2014/main" id="{410C569D-7423-4C28-A976-0521D99BC866}"/>
              </a:ext>
            </a:extLst>
          </p:cNvPr>
          <p:cNvSpPr>
            <a:spLocks xmlns:a="http://schemas.openxmlformats.org/drawingml/2006/main" noGrp="1"/>
          </p:cNvSpPr>
          <p:nvPr/>
        </p:nvSpPr>
        <p:spPr>
          <a:xfrm xmlns:a="http://schemas.openxmlformats.org/drawingml/2006/main">
            <a:off x="609600" y="1971675"/>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F7EBE8"/>
                </a:solidFill>
                <a:latin typeface="Helvetica Neue"/>
                <a:ea typeface="Helvetica Neue"/>
                <a:cs typeface="Helvetica Neue"/>
              </a:defRPr>
            </a:pPr>
            <a:r>
              <a:rPr sz="1950" b="1">
                <a:solidFill>
                  <a:srgbClr val="F7EBE8"/>
                </a:solidFill>
                <a:latin typeface="Helvetica Neue"/>
                <a:ea typeface="Helvetica Neue"/>
                <a:cs typeface="Helvetica Neue"/>
              </a:rPr>
              <a:t>Situation</a:t>
            </a:r>
          </a:p>
        </p:txBody>
      </p:sp>
      <p:sp>
        <p:nvSpPr>
          <p:cNvPr id="13" name="Situation">
            <a:extLst xmlns:a="http://schemas.openxmlformats.org/drawingml/2006/main">
              <a:ext uri="{FF2B5EF4-FFF2-40B4-BE49-F238E27FC236}">
                <a16:creationId xmlns:a16="http://schemas.microsoft.com/office/drawing/2014/main" id="{171C55AF-793E-4094-B688-EDF6C92F49DC}"/>
              </a:ext>
            </a:extLst>
          </p:cNvPr>
          <p:cNvSpPr>
            <a:spLocks xmlns:a="http://schemas.openxmlformats.org/drawingml/2006/main" noGrp="1"/>
          </p:cNvSpPr>
          <p:nvPr/>
        </p:nvSpPr>
        <p:spPr>
          <a:xfrm xmlns:a="http://schemas.openxmlformats.org/drawingml/2006/main">
            <a:off x="609600" y="2400300"/>
            <a:ext cx="6515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D3C8C5"/>
                </a:solidFill>
                <a:latin typeface="Helvetica Neue"/>
                <a:ea typeface="Helvetica Neue"/>
                <a:cs typeface="Helvetica Neue"/>
              </a:defRPr>
            </a:pPr>
            <a:r>
              <a:rPr sz="1800" b="0">
                <a:solidFill>
                  <a:srgbClr val="D3C8C5"/>
                </a:solidFill>
                <a:latin typeface="Helvetica Neue"/>
                <a:ea typeface="Helvetica Neue"/>
                <a:cs typeface="Helvetica Neue"/>
              </a:rPr>
              <a:t>At Auscare Group, Amazon ACOS was 42% across two FMCG brands. Spend was too high for the return.</a:t>
            </a:r>
          </a:p>
        </p:txBody>
      </p:sp>
      <p:sp>
        <p:nvSpPr>
          <p:cNvPr id="14" name="Task heading">
            <a:extLst xmlns:a="http://schemas.openxmlformats.org/drawingml/2006/main">
              <a:ext uri="{FF2B5EF4-FFF2-40B4-BE49-F238E27FC236}">
                <a16:creationId xmlns:a16="http://schemas.microsoft.com/office/drawing/2014/main" id="{FAD4AD15-C36F-4F95-BD25-D28E38CC1FF2}"/>
              </a:ext>
            </a:extLst>
          </p:cNvPr>
          <p:cNvSpPr>
            <a:spLocks xmlns:a="http://schemas.openxmlformats.org/drawingml/2006/main" noGrp="1"/>
          </p:cNvSpPr>
          <p:nvPr/>
        </p:nvSpPr>
        <p:spPr>
          <a:xfrm xmlns:a="http://schemas.openxmlformats.org/drawingml/2006/main">
            <a:off x="609600" y="3267075"/>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F7EBE8"/>
                </a:solidFill>
                <a:latin typeface="Helvetica Neue"/>
                <a:ea typeface="Helvetica Neue"/>
                <a:cs typeface="Helvetica Neue"/>
              </a:defRPr>
            </a:pPr>
            <a:r>
              <a:rPr sz="1950" b="1">
                <a:solidFill>
                  <a:srgbClr val="F7EBE8"/>
                </a:solidFill>
                <a:latin typeface="Helvetica Neue"/>
                <a:ea typeface="Helvetica Neue"/>
                <a:cs typeface="Helvetica Neue"/>
              </a:rPr>
              <a:t>Task</a:t>
            </a:r>
          </a:p>
        </p:txBody>
      </p:sp>
      <p:sp>
        <p:nvSpPr>
          <p:cNvPr id="15" name="Task">
            <a:extLst xmlns:a="http://schemas.openxmlformats.org/drawingml/2006/main">
              <a:ext uri="{FF2B5EF4-FFF2-40B4-BE49-F238E27FC236}">
                <a16:creationId xmlns:a16="http://schemas.microsoft.com/office/drawing/2014/main" id="{D3E4631F-01AA-46D5-B756-2396E889F52C}"/>
              </a:ext>
            </a:extLst>
          </p:cNvPr>
          <p:cNvSpPr>
            <a:spLocks xmlns:a="http://schemas.openxmlformats.org/drawingml/2006/main" noGrp="1"/>
          </p:cNvSpPr>
          <p:nvPr/>
        </p:nvSpPr>
        <p:spPr>
          <a:xfrm xmlns:a="http://schemas.openxmlformats.org/drawingml/2006/main">
            <a:off x="609600" y="3695700"/>
            <a:ext cx="6515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D3C8C5"/>
                </a:solidFill>
                <a:latin typeface="Helvetica Neue"/>
                <a:ea typeface="Helvetica Neue"/>
                <a:cs typeface="Helvetica Neue"/>
              </a:defRPr>
            </a:pPr>
            <a:r>
              <a:rPr sz="1800" b="0">
                <a:solidFill>
                  <a:srgbClr val="D3C8C5"/>
                </a:solidFill>
                <a:latin typeface="Helvetica Neue"/>
                <a:ea typeface="Helvetica Neue"/>
                <a:cs typeface="Helvetica Neue"/>
              </a:rPr>
              <a:t>Reduce ACOS to a sustainable level while protecting the brands’ shelf visibility.</a:t>
            </a:r>
          </a:p>
        </p:txBody>
      </p:sp>
      <p:sp>
        <p:nvSpPr>
          <p:cNvPr id="16" name="Action heading">
            <a:extLst xmlns:a="http://schemas.openxmlformats.org/drawingml/2006/main">
              <a:ext uri="{FF2B5EF4-FFF2-40B4-BE49-F238E27FC236}">
                <a16:creationId xmlns:a16="http://schemas.microsoft.com/office/drawing/2014/main" id="{4F614A69-6A80-4BBD-9C99-4B6465EFC25E}"/>
              </a:ext>
            </a:extLst>
          </p:cNvPr>
          <p:cNvSpPr>
            <a:spLocks xmlns:a="http://schemas.openxmlformats.org/drawingml/2006/main" noGrp="1"/>
          </p:cNvSpPr>
          <p:nvPr/>
        </p:nvSpPr>
        <p:spPr>
          <a:xfrm xmlns:a="http://schemas.openxmlformats.org/drawingml/2006/main">
            <a:off x="609600" y="4467225"/>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950" b="1">
                <a:solidFill>
                  <a:srgbClr val="F7EBE8"/>
                </a:solidFill>
                <a:latin typeface="Helvetica Neue"/>
                <a:ea typeface="Helvetica Neue"/>
                <a:cs typeface="Helvetica Neue"/>
              </a:defRPr>
            </a:pPr>
            <a:r>
              <a:rPr sz="1950" b="1">
                <a:solidFill>
                  <a:srgbClr val="F7EBE8"/>
                </a:solidFill>
                <a:latin typeface="Helvetica Neue"/>
                <a:ea typeface="Helvetica Neue"/>
                <a:cs typeface="Helvetica Neue"/>
              </a:rPr>
              <a:t>Action</a:t>
            </a:r>
          </a:p>
        </p:txBody>
      </p:sp>
      <p:sp>
        <p:nvSpPr>
          <p:cNvPr id="17" name="Action">
            <a:extLst xmlns:a="http://schemas.openxmlformats.org/drawingml/2006/main">
              <a:ext uri="{FF2B5EF4-FFF2-40B4-BE49-F238E27FC236}">
                <a16:creationId xmlns:a16="http://schemas.microsoft.com/office/drawing/2014/main" id="{DA2299EE-3613-4C53-AF12-61381B7C2EE3}"/>
              </a:ext>
            </a:extLst>
          </p:cNvPr>
          <p:cNvSpPr>
            <a:spLocks xmlns:a="http://schemas.openxmlformats.org/drawingml/2006/main" noGrp="1"/>
          </p:cNvSpPr>
          <p:nvPr/>
        </p:nvSpPr>
        <p:spPr>
          <a:xfrm xmlns:a="http://schemas.openxmlformats.org/drawingml/2006/main">
            <a:off x="609600" y="4876800"/>
            <a:ext cx="6496050"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D3C8C5"/>
                </a:solidFill>
                <a:latin typeface="Helvetica Neue"/>
                <a:ea typeface="Helvetica Neue"/>
                <a:cs typeface="Helvetica Neue"/>
              </a:defRPr>
            </a:pPr>
            <a:r>
              <a:rPr sz="1800" b="0">
                <a:solidFill>
                  <a:srgbClr val="D3C8C5"/>
                </a:solidFill>
                <a:latin typeface="Helvetica Neue"/>
                <a:ea typeface="Helvetica Neue"/>
                <a:cs typeface="Helvetica Neue"/>
              </a:rPr>
              <a:t>Reviewed weekly ROAS, ACOS, CTR and conversion data. Identified weak keywords, audiences and placements, then reallocated budget in stages and tested each shift.</a:t>
            </a:r>
          </a:p>
        </p:txBody>
      </p:sp>
      <p:sp>
        <p:nvSpPr>
          <p:cNvPr id="18" name="Judgement">
            <a:extLst xmlns:a="http://schemas.openxmlformats.org/drawingml/2006/main">
              <a:ext uri="{FF2B5EF4-FFF2-40B4-BE49-F238E27FC236}">
                <a16:creationId xmlns:a16="http://schemas.microsoft.com/office/drawing/2014/main" id="{4F50D493-B65B-40BD-90E3-15E6A8ABD8EF}"/>
              </a:ext>
            </a:extLst>
          </p:cNvPr>
          <p:cNvSpPr>
            <a:spLocks xmlns:a="http://schemas.openxmlformats.org/drawingml/2006/main" noGrp="1"/>
          </p:cNvSpPr>
          <p:nvPr/>
        </p:nvSpPr>
        <p:spPr>
          <a:xfrm xmlns:a="http://schemas.openxmlformats.org/drawingml/2006/main">
            <a:off x="609600" y="609600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FFA987"/>
                </a:solidFill>
                <a:latin typeface="Helvetica Neue"/>
                <a:ea typeface="Helvetica Neue"/>
                <a:cs typeface="Helvetica Neue"/>
              </a:defRPr>
            </a:pPr>
            <a:r>
              <a:rPr sz="1875" b="0">
                <a:solidFill>
                  <a:srgbClr val="FFA987"/>
                </a:solidFill>
                <a:latin typeface="Helvetica Neue"/>
                <a:ea typeface="Helvetica Neue"/>
                <a:cs typeface="Helvetica Neue"/>
              </a:rPr>
              <a:t>The judgement: balance efficiency with the visibility that keeps brands growing.</a:t>
            </a:r>
          </a:p>
        </p:txBody>
      </p:sp>
    </p:spTree>
    <p:extLst>
      <p:ext uri="{BB962C8B-B14F-4D97-AF65-F5344CB8AC3E}">
        <p14:creationId xmlns:p14="http://schemas.microsoft.com/office/powerpoint/2010/main" val="1725386941"/>
      </p:ext>
    </p:extLst>
  </p:cSld>
</p:sld>
</file>

<file path=ppt/theme/theme1.xml><?xml version="1.0" encoding="utf-8"?>
<a:theme xmlns:a="http://schemas.openxmlformats.org/drawingml/2006/main" name="ChatGPT">
  <a:themeElements>
    <a:clrScheme name="Warm glass">
      <a:dk1>
        <a:srgbClr val="1E1E24"/>
      </a:dk1>
      <a:lt1>
        <a:srgbClr val="F7EBE8"/>
      </a:lt1>
      <a:dk2>
        <a:srgbClr val="444140"/>
      </a:dk2>
      <a:lt2>
        <a:srgbClr val="FFFFFF"/>
      </a:lt2>
      <a:accent1>
        <a:srgbClr val="FFA987"/>
      </a:accent1>
      <a:accent2>
        <a:srgbClr val="E54B4B"/>
      </a:accent2>
      <a:accent3>
        <a:srgbClr val="444140"/>
      </a:accent3>
      <a:accent4>
        <a:srgbClr val="F7EBE8"/>
      </a:accent4>
      <a:accent5>
        <a:srgbClr val="9E6E63"/>
      </a:accent5>
      <a:accent6>
        <a:srgbClr val="BBA9A3"/>
      </a:accent6>
      <a:hlink>
        <a:srgbClr val="FFA987"/>
      </a:hlink>
      <a:folHlink>
        <a:srgbClr val="FFA987"/>
      </a:folHlink>
    </a:clrScheme>
    <a:fontScheme name="Office">
      <a:majorFont>
        <a:latin typeface="Calibri Light"/>
        <a:ea typeface="Calibri Light"/>
        <a:cs typeface="Calibri Light"/>
      </a:majorFont>
      <a:minorFont>
        <a:latin typeface="Calibri"/>
        <a:ea typeface="Calibri"/>
        <a:cs typeface="Calibri"/>
      </a:minorFont>
    </a:fontScheme>
    <a:fmtScheme name="Warm glas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304800" dist="152400" dir="5400000">
              <a:srgbClr val="000000">
                <a:alpha val="18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2026-09-27T11:07:10.8360000Z</dcterms:created>
  <dcterms:modified xsi:type="dcterms:W3CDTF">2026-09-27T11:07:10.8360000Z</dcterms:modified>
</coreProperties>
</file>